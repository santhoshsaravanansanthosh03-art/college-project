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embeddedFontLst>
    <p:embeddedFont>
      <p:font typeface="Roboto" panose="02000000000000000000" pitchFamily="34" charset="0"/>
      <p:regular r:id="rId22"/>
      <p:bold r:id="rId23"/>
      <p:italic r:id="rId24"/>
      <p:boldItalic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bracketed team names and registration numbers. Say clearly at the start: partner loyalty APIs are simulated in this prototype and the evaluation data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what is the problem? Points are scattered, forgotten and expire; values cannot be compared across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base paper and two competitors are named in the project document. Check the base paper for its exact analytics methods and limitations, verify what AwardWallet and Points.com actually offer, and add two or three more 2024-2026 papers if your guide expects five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Competitors such as AwardWallet and Points.com already work in this area, as far as we know. The contribution here is the aggregation, expiry and explainable recommendation logic, which works the same with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is it practically possible? As a prototype with simulated APIs, yes. Real integrations need partnership agreements; most programs have no public API. Scraping brand apps is not a safe alternative: it breaks easily, usually violates terms of service and means handling user passwords. If possible, make one connector real with a small local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enter through the gateway into a modular FastAPI backend. All data lives in PostgreSQL with Redis for caching. A background pipeline pulls data from loyalty programs through connectors, normalizes it and stores it, so the app serves stored data and never waits on a partner API. Why a modular monolith: team of four students and one semester, simulated partner APIs, one database keeps balances consistent, and any module can later be split into a microservice. Say aloud that the partner APIs are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7 follow one user from sign-up to a simulated redemption. The last card is the pipeline that runs without the user: scheduler to queue to connectors (Retail, Food, Travel) to normalizer to PostgreSQL, then the reward engine and notification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backend module has its own router and service: auth, accounts, wallet, aggregation, rewards, notifications. The frontend only calls these REST routes; the OpenAPI spec that FastAPI generates is the only contract between frontend and backend, so they deploy independently. If a partner API is down, syncing retries in the background and the app serves the last stored data from the database or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actor: the user, who registers, links programs, views the dashboard and alerts, sees ranked rewards and redeems (simulated). Secondary actors: the loyalty programs (simulated APIs) that supply balances, and the scheduler that triggers syncs and expiry alerts in the background. The system boundary is the FastAPI modular monolith.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the scheduler triggers a sync, a connector fetches balances, and if the partner API is reachable the data is normalized to a common rupee value and stored in the ledger and cache. If it is not reachable, syncing retries in the background and the app serves the last stored data. Bottom row: stored balances are checked for expiry (alert if expiring soon), rewards are scored and ranked, rewards the user cannot afford are dropped, and a redemption writes an immutable ledger row. Redemption is simulated in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PostgreSQL: the data is relational, ACID transactions keep a redemption from half-completing, JSONB holds each program's different raw data, and constraints keep data clean. users and programs are the two parent tables. Ledger principle (teal card): every credit and debit is an immutable transaction row; balances are computed from the ledger and never overwritten blindly. Redis (not shown) holds the dashboard cache and the job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39"/>
            <a:ext cx="10566400" cy="467338"/>
          </a:xfrm>
          <a:prstGeom prst="rect">
            <a:avLst/>
          </a:prstGeom>
          <a:noFill/>
          <a:ln/>
        </p:spPr>
        <p:txBody>
          <a:bodyPr wrap="square" lIns="0" tIns="0" rIns="0" bIns="0" rtlCol="0" anchor="t"/>
          <a:lstStyle>
            <a:lvl1pPr algn="l" indent="0" marL="0">
              <a:lnSpc>
                <a:spcPct val="115000"/>
              </a:lnSpc>
              <a:buNone/>
              <a:defRPr lang="en-US" sz="3200" dirty="0">
                <a:solidFill>
                  <a:srgbClr val="3A2F33"/>
                </a:solidFill>
                <a:latin typeface="Roboto" pitchFamily="34" charset="0"/>
                <a:ea typeface="Roboto" pitchFamily="34" charset="-122"/>
                <a:cs typeface="Robot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77"/>
            <a:ext cx="10566400" cy="4196123"/>
          </a:xfrm>
          <a:prstGeom prst="rect">
            <a:avLst/>
          </a:prstGeom>
          <a:noFill/>
          <a:ln/>
        </p:spPr>
        <p:txBody>
          <a:bodyPr wrap="square" lIns="0" tIns="0" rIns="0" bIns="0" rtlCol="0" anchor="t"/>
          <a:lstStyle>
            <a:lvl1pPr algn="l" indent="0" marL="0">
              <a:lnSpc>
                <a:spcPct val="140000"/>
              </a:lnSpc>
              <a:buNone/>
              <a:defRPr lang="en-US" sz="1600" dirty="0">
                <a:solidFill>
                  <a:srgbClr val="3A2F33"/>
                </a:solidFill>
                <a:latin typeface="Roboto" pitchFamily="34" charset="0"/>
                <a:ea typeface="Roboto" pitchFamily="34" charset="-122"/>
                <a:cs typeface="Robo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9"/>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39"/>
            <a:ext cx="10566400" cy="467338"/>
          </a:xfrm>
          <a:prstGeom prst="rect">
            <a:avLst/>
          </a:prstGeom>
          <a:noFill/>
          <a:ln/>
        </p:spPr>
        <p:txBody>
          <a:bodyPr wrap="square" lIns="0" tIns="0" rIns="0" bIns="0" rtlCol="0" anchor="t"/>
          <a:lstStyle>
            <a:lvl1pPr algn="l" indent="0" marL="0">
              <a:lnSpc>
                <a:spcPct val="115000"/>
              </a:lnSpc>
              <a:buNone/>
              <a:defRPr lang="en-US" sz="3200" dirty="0">
                <a:solidFill>
                  <a:srgbClr val="3A2F33"/>
                </a:solidFill>
                <a:latin typeface="Roboto" pitchFamily="34" charset="0"/>
                <a:ea typeface="Roboto" pitchFamily="34" charset="-122"/>
                <a:cs typeface="Robot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77"/>
            <a:ext cx="10566400" cy="4196123"/>
          </a:xfrm>
          <a:prstGeom prst="rect">
            <a:avLst/>
          </a:prstGeom>
          <a:noFill/>
          <a:ln/>
        </p:spPr>
        <p:txBody>
          <a:bodyPr wrap="square" lIns="0" tIns="0" rIns="0" bIns="0" rtlCol="0" anchor="t"/>
          <a:lstStyle>
            <a:lvl1pPr algn="l" indent="0" marL="0">
              <a:lnSpc>
                <a:spcPct val="140000"/>
              </a:lnSpc>
              <a:buNone/>
              <a:defRPr lang="en-US" sz="1600" dirty="0">
                <a:solidFill>
                  <a:srgbClr val="3A2F33"/>
                </a:solidFill>
                <a:latin typeface="Roboto" pitchFamily="34" charset="0"/>
                <a:ea typeface="Roboto" pitchFamily="34" charset="-122"/>
                <a:cs typeface="Robo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2.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slideLayout" Target="../slideLayouts/slideLayout2.xml"/><Relationship Id="rId1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2.xml"/><Relationship Id="rId1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9"/>
        </a:solidFill>
      </p:bgPr>
    </p:bg>
    <p:spTree>
      <p:nvGrpSpPr>
        <p:cNvPr id="1" name=""/>
        <p:cNvGrpSpPr/>
        <p:nvPr/>
      </p:nvGrpSpPr>
      <p:grpSpPr>
        <a:xfrm>
          <a:off x="0" y="0"/>
          <a:ext cx="0" cy="0"/>
          <a:chOff x="0" y="0"/>
          <a:chExt cx="0" cy="0"/>
        </a:xfrm>
      </p:grpSpPr>
      <p:sp>
        <p:nvSpPr>
          <p:cNvPr id="2" name="Shape 0"/>
          <p:cNvSpPr/>
          <p:nvPr/>
        </p:nvSpPr>
        <p:spPr>
          <a:xfrm>
            <a:off x="8534400" y="0"/>
            <a:ext cx="3657600" cy="6858000"/>
          </a:xfrm>
          <a:prstGeom prst="rect">
            <a:avLst/>
          </a:prstGeom>
          <a:solidFill>
            <a:srgbClr val="4B2839"/>
          </a:solidFill>
          <a:ln/>
        </p:spPr>
      </p:sp>
      <p:sp>
        <p:nvSpPr>
          <p:cNvPr id="3" name="Text 1"/>
          <p:cNvSpPr/>
          <p:nvPr/>
        </p:nvSpPr>
        <p:spPr>
          <a:xfrm>
            <a:off x="812800" y="1125754"/>
            <a:ext cx="3879056" cy="391138"/>
          </a:xfrm>
          <a:prstGeom prst="roundRect">
            <a:avLst>
              <a:gd name="adj" fmla="val 50000"/>
            </a:avLst>
          </a:prstGeom>
          <a:solidFill>
            <a:srgbClr val="EBDDE2"/>
          </a:solidFill>
          <a:ln/>
        </p:spPr>
        <p:txBody>
          <a:bodyPr wrap="none" lIns="0" tIns="0" rIns="0" bIns="0" rtlCol="0" anchor="ctr">
            <a:normAutofit/>
          </a:bodyPr>
          <a:lstStyle/>
          <a:p>
            <a:pPr algn="ctr" indent="0" marL="0">
              <a:lnSpc>
                <a:spcPts val="1680"/>
              </a:lnSpc>
              <a:buNone/>
            </a:pPr>
            <a:r>
              <a:rPr lang="en-US" sz="1200" spc="150" kern="0" dirty="0">
                <a:solidFill>
                  <a:srgbClr val="8B5068"/>
                </a:solidFill>
                <a:latin typeface="Roboto" pitchFamily="34" charset="0"/>
                <a:ea typeface="Roboto" pitchFamily="34" charset="-122"/>
                <a:cs typeface="Roboto" pitchFamily="34" charset="-120"/>
              </a:rPr>
              <a:t>PROJECT REVIEW · SOFTWARE PROJECT</a:t>
            </a:r>
            <a:endParaRPr lang="en-US" sz="1200" dirty="0"/>
          </a:p>
        </p:txBody>
      </p:sp>
      <p:sp>
        <p:nvSpPr>
          <p:cNvPr id="4" name="Text 2"/>
          <p:cNvSpPr/>
          <p:nvPr>
            <p:ph type="title"/>
          </p:nvPr>
        </p:nvSpPr>
        <p:spPr>
          <a:xfrm>
            <a:off x="812800" y="1694692"/>
            <a:ext cx="7325360" cy="1076902"/>
          </a:xfrm>
          <a:prstGeom prst="rect">
            <a:avLst/>
          </a:prstGeom>
          <a:noFill/>
          <a:ln/>
        </p:spPr>
        <p:txBody>
          <a:bodyPr wrap="square" lIns="0" tIns="0" rIns="0" bIns="0" rtlCol="0" anchor="t">
            <a:normAutofit/>
          </a:bodyPr>
          <a:lstStyle/>
          <a:p>
            <a:pPr algn="l" indent="0" marL="0">
              <a:lnSpc>
                <a:spcPts val="4140"/>
              </a:lnSpc>
              <a:buNone/>
            </a:pPr>
            <a:r>
              <a:rPr lang="en-US" sz="3600" b="0" i="0" dirty="0">
                <a:solidFill>
                  <a:srgbClr val="3A2F33"/>
                </a:solidFill>
                <a:latin typeface="Roboto" pitchFamily="34" charset="0"/>
                <a:ea typeface="Roboto" pitchFamily="34" charset="-122"/>
                <a:cs typeface="Roboto" pitchFamily="34" charset="-120"/>
              </a:rPr>
              <a:t>Universal Loyalty Point Aggregation Platform</a:t>
            </a:r>
            <a:endParaRPr lang="en-US" sz="3600" dirty="0"/>
          </a:p>
        </p:txBody>
      </p:sp>
      <p:sp>
        <p:nvSpPr>
          <p:cNvPr id="5" name="Text 3"/>
          <p:cNvSpPr/>
          <p:nvPr/>
        </p:nvSpPr>
        <p:spPr>
          <a:xfrm>
            <a:off x="812800" y="2923995"/>
            <a:ext cx="73253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B5F64"/>
                </a:solidFill>
                <a:latin typeface="Roboto" pitchFamily="34" charset="0"/>
                <a:ea typeface="Roboto" pitchFamily="34" charset="-122"/>
                <a:cs typeface="Roboto" pitchFamily="34" charset="-120"/>
              </a:rPr>
              <a:t>One platform that collects points from many loyalty programs, shows them in one dashboard, alerts users before expiry and recommends the best rewards to use.</a:t>
            </a:r>
            <a:endParaRPr lang="en-US" sz="1500" dirty="0"/>
          </a:p>
        </p:txBody>
      </p:sp>
      <p:sp>
        <p:nvSpPr>
          <p:cNvPr id="6" name="Text 4"/>
          <p:cNvSpPr/>
          <p:nvPr/>
        </p:nvSpPr>
        <p:spPr>
          <a:xfrm>
            <a:off x="812800" y="3635195"/>
            <a:ext cx="7325360"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TEAM MEMBERS</a:t>
            </a:r>
            <a:endParaRPr lang="en-US" sz="1200" dirty="0"/>
          </a:p>
        </p:txBody>
      </p:sp>
      <p:sp>
        <p:nvSpPr>
          <p:cNvPr id="7" name="Text 5"/>
          <p:cNvSpPr/>
          <p:nvPr/>
        </p:nvSpPr>
        <p:spPr>
          <a:xfrm>
            <a:off x="812800" y="4026333"/>
            <a:ext cx="3505708" cy="274313"/>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2F33"/>
                </a:solidFill>
                <a:latin typeface="Roboto" pitchFamily="34" charset="0"/>
                <a:ea typeface="Roboto" pitchFamily="34" charset="-122"/>
                <a:cs typeface="Roboto" pitchFamily="34" charset="-120"/>
              </a:rPr>
              <a:t>[Team member 1]</a:t>
            </a:r>
            <a:r>
              <a:rPr lang="en-US" sz="1400" dirty="0">
                <a:solidFill>
                  <a:srgbClr val="3A2F33"/>
                </a:solidFill>
                <a:latin typeface="Roboto" pitchFamily="34" charset="0"/>
                <a:ea typeface="Roboto" pitchFamily="34" charset="-122"/>
                <a:cs typeface="Roboto" pitchFamily="34" charset="-120"/>
              </a:rPr>
              <a:t> [Reg. no.]</a:t>
            </a:r>
            <a:endParaRPr lang="en-US" sz="1400" dirty="0"/>
          </a:p>
        </p:txBody>
      </p:sp>
      <p:sp>
        <p:nvSpPr>
          <p:cNvPr id="8" name="Text 6"/>
          <p:cNvSpPr/>
          <p:nvPr/>
        </p:nvSpPr>
        <p:spPr>
          <a:xfrm>
            <a:off x="812800" y="4351446"/>
            <a:ext cx="3505708" cy="274313"/>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2F33"/>
                </a:solidFill>
                <a:latin typeface="Roboto" pitchFamily="34" charset="0"/>
                <a:ea typeface="Roboto" pitchFamily="34" charset="-122"/>
                <a:cs typeface="Roboto" pitchFamily="34" charset="-120"/>
              </a:rPr>
              <a:t>[Team member 2]</a:t>
            </a:r>
            <a:r>
              <a:rPr lang="en-US" sz="1400" dirty="0">
                <a:solidFill>
                  <a:srgbClr val="3A2F33"/>
                </a:solidFill>
                <a:latin typeface="Roboto" pitchFamily="34" charset="0"/>
                <a:ea typeface="Roboto" pitchFamily="34" charset="-122"/>
                <a:cs typeface="Roboto" pitchFamily="34" charset="-120"/>
              </a:rPr>
              <a:t> [Reg. no.]</a:t>
            </a:r>
            <a:endParaRPr lang="en-US" sz="1400" dirty="0"/>
          </a:p>
        </p:txBody>
      </p:sp>
      <p:sp>
        <p:nvSpPr>
          <p:cNvPr id="9" name="Text 7"/>
          <p:cNvSpPr/>
          <p:nvPr/>
        </p:nvSpPr>
        <p:spPr>
          <a:xfrm>
            <a:off x="4521200" y="4026333"/>
            <a:ext cx="3505708" cy="274313"/>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2F33"/>
                </a:solidFill>
                <a:latin typeface="Roboto" pitchFamily="34" charset="0"/>
                <a:ea typeface="Roboto" pitchFamily="34" charset="-122"/>
                <a:cs typeface="Roboto" pitchFamily="34" charset="-120"/>
              </a:rPr>
              <a:t>[Team member 3]</a:t>
            </a:r>
            <a:r>
              <a:rPr lang="en-US" sz="1400" dirty="0">
                <a:solidFill>
                  <a:srgbClr val="3A2F33"/>
                </a:solidFill>
                <a:latin typeface="Roboto" pitchFamily="34" charset="0"/>
                <a:ea typeface="Roboto" pitchFamily="34" charset="-122"/>
                <a:cs typeface="Roboto" pitchFamily="34" charset="-120"/>
              </a:rPr>
              <a:t> [Reg. no.]</a:t>
            </a:r>
            <a:endParaRPr lang="en-US" sz="1400" dirty="0"/>
          </a:p>
        </p:txBody>
      </p:sp>
      <p:sp>
        <p:nvSpPr>
          <p:cNvPr id="10" name="Text 8"/>
          <p:cNvSpPr/>
          <p:nvPr/>
        </p:nvSpPr>
        <p:spPr>
          <a:xfrm>
            <a:off x="4521200" y="4351446"/>
            <a:ext cx="3505708" cy="274313"/>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2F33"/>
                </a:solidFill>
                <a:latin typeface="Roboto" pitchFamily="34" charset="0"/>
                <a:ea typeface="Roboto" pitchFamily="34" charset="-122"/>
                <a:cs typeface="Roboto" pitchFamily="34" charset="-120"/>
              </a:rPr>
              <a:t>[Team member 4]</a:t>
            </a:r>
            <a:r>
              <a:rPr lang="en-US" sz="1400" dirty="0">
                <a:solidFill>
                  <a:srgbClr val="3A2F33"/>
                </a:solidFill>
                <a:latin typeface="Roboto" pitchFamily="34" charset="0"/>
                <a:ea typeface="Roboto" pitchFamily="34" charset="-122"/>
                <a:cs typeface="Roboto" pitchFamily="34" charset="-120"/>
              </a:rPr>
              <a:t> [Reg. no.]</a:t>
            </a:r>
            <a:endParaRPr lang="en-US" sz="1400" dirty="0"/>
          </a:p>
        </p:txBody>
      </p:sp>
      <p:sp>
        <p:nvSpPr>
          <p:cNvPr id="11" name="Text 9"/>
          <p:cNvSpPr/>
          <p:nvPr/>
        </p:nvSpPr>
        <p:spPr>
          <a:xfrm>
            <a:off x="815975" y="4781334"/>
            <a:ext cx="7105650" cy="556599"/>
          </a:xfrm>
          <a:prstGeom prst="roundRect">
            <a:avLst>
              <a:gd name="adj" fmla="val 13120"/>
            </a:avLst>
          </a:prstGeom>
          <a:solidFill>
            <a:srgbClr val="F5EAEE"/>
          </a:solidFill>
          <a:ln w="6350">
            <a:solidFill>
              <a:srgbClr val="DEC8D0"/>
            </a:solidFill>
            <a:prstDash val="solid"/>
          </a:ln>
        </p:spPr>
        <p:txBody>
          <a:bodyPr wrap="square" lIns="183255" tIns="132455" rIns="0" bIns="107055" rtlCol="0" anchor="t">
            <a:normAutofit/>
          </a:bodyPr>
          <a:lstStyle/>
          <a:p>
            <a:pPr algn="l" indent="0" marL="0">
              <a:lnSpc>
                <a:spcPts val="1960"/>
              </a:lnSpc>
              <a:buNone/>
            </a:pPr>
            <a:r>
              <a:rPr lang="en-US" sz="1400" b="1" dirty="0">
                <a:solidFill>
                  <a:srgbClr val="3A2F33"/>
                </a:solidFill>
                <a:latin typeface="Roboto" pitchFamily="34" charset="0"/>
                <a:ea typeface="Roboto" pitchFamily="34" charset="-122"/>
                <a:cs typeface="Roboto" pitchFamily="34" charset="-120"/>
              </a:rPr>
              <a:t>Project Guide:</a:t>
            </a:r>
            <a:r>
              <a:rPr lang="en-US" sz="1400" dirty="0">
                <a:solidFill>
                  <a:srgbClr val="3A2F33"/>
                </a:solidFill>
                <a:latin typeface="Roboto" pitchFamily="34" charset="0"/>
                <a:ea typeface="Roboto" pitchFamily="34" charset="-122"/>
                <a:cs typeface="Roboto" pitchFamily="34" charset="-120"/>
              </a:rPr>
              <a:t> Mr. M. Murugesan, Department of Information Technology</a:t>
            </a:r>
            <a:endParaRPr lang="en-US" sz="1400" dirty="0"/>
          </a:p>
        </p:txBody>
      </p:sp>
      <p:sp>
        <p:nvSpPr>
          <p:cNvPr id="12" name="Text 10"/>
          <p:cNvSpPr/>
          <p:nvPr/>
        </p:nvSpPr>
        <p:spPr>
          <a:xfrm>
            <a:off x="812800" y="5518908"/>
            <a:ext cx="7325360" cy="238738"/>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B5F64"/>
                </a:solidFill>
                <a:latin typeface="Roboto" pitchFamily="34" charset="0"/>
                <a:ea typeface="Roboto" pitchFamily="34" charset="-122"/>
                <a:cs typeface="Roboto" pitchFamily="34" charset="-120"/>
              </a:rPr>
              <a:t>St. Peter’s Institute of Higher Education and Research</a:t>
            </a:r>
            <a:endParaRPr lang="en-US" sz="1200" dirty="0"/>
          </a:p>
        </p:txBody>
      </p:sp>
      <p:sp>
        <p:nvSpPr>
          <p:cNvPr id="13" name="Text 11"/>
          <p:cNvSpPr/>
          <p:nvPr/>
        </p:nvSpPr>
        <p:spPr>
          <a:xfrm>
            <a:off x="8940800" y="1587500"/>
            <a:ext cx="2844800" cy="520700"/>
          </a:xfrm>
          <a:custGeom>
            <a:avLst/>
            <a:gdLst/>
            <a:ahLst/>
            <a:cxnLst/>
            <a:rect l="l" t="t" r="r" b="b"/>
            <a:pathLst>
              <a:path w="2844800" h="520700">
                <a:moveTo>
                  <a:pt x="76200" y="0"/>
                </a:moveTo>
                <a:lnTo>
                  <a:pt x="2768600" y="0"/>
                </a:lnTo>
                <a:arcTo hR="76200" wR="76200" stAng="16200000" swAng="5400000"/>
                <a:lnTo>
                  <a:pt x="2844800" y="444500"/>
                </a:lnTo>
                <a:arcTo hR="76200" wR="76200" stAng="0" swAng="5400000"/>
                <a:lnTo>
                  <a:pt x="76200" y="520700"/>
                </a:lnTo>
                <a:arcTo hR="76200" wR="76200" stAng="5400000" swAng="5400000"/>
                <a:lnTo>
                  <a:pt x="0" y="76200"/>
                </a:lnTo>
                <a:arcTo hR="76200" wR="76200" stAng="10800000" swAng="5400000"/>
                <a:close/>
              </a:path>
            </a:pathLst>
          </a:custGeom>
          <a:solidFill>
            <a:srgbClr val="6B3D52"/>
          </a:solidFill>
          <a:ln/>
        </p:spPr>
        <p:txBody>
          <a:bodyPr wrap="square" lIns="0" tIns="127000" rIns="0" bIns="101600" rtlCol="0" anchor="t">
            <a:normAutofit/>
          </a:bodyPr>
          <a:lstStyle/>
          <a:p>
            <a:pPr algn="ctr" indent="0" marL="0">
              <a:lnSpc>
                <a:spcPts val="2100"/>
              </a:lnSpc>
              <a:buNone/>
            </a:pPr>
            <a:r>
              <a:rPr lang="en-US" sz="1500" dirty="0">
                <a:solidFill>
                  <a:srgbClr val="FBF8F9"/>
                </a:solidFill>
                <a:latin typeface="Roboto" pitchFamily="34" charset="0"/>
                <a:ea typeface="Roboto" pitchFamily="34" charset="-122"/>
                <a:cs typeface="Roboto" pitchFamily="34" charset="-120"/>
              </a:rPr>
              <a:t>Retail points</a:t>
            </a:r>
            <a:endParaRPr lang="en-US" sz="1500" dirty="0"/>
          </a:p>
        </p:txBody>
      </p:sp>
      <p:sp>
        <p:nvSpPr>
          <p:cNvPr id="14" name="Text 12"/>
          <p:cNvSpPr/>
          <p:nvPr/>
        </p:nvSpPr>
        <p:spPr>
          <a:xfrm>
            <a:off x="8940800" y="2222500"/>
            <a:ext cx="2844800" cy="520700"/>
          </a:xfrm>
          <a:custGeom>
            <a:avLst/>
            <a:gdLst/>
            <a:ahLst/>
            <a:cxnLst/>
            <a:rect l="l" t="t" r="r" b="b"/>
            <a:pathLst>
              <a:path w="2844800" h="520700">
                <a:moveTo>
                  <a:pt x="76200" y="0"/>
                </a:moveTo>
                <a:lnTo>
                  <a:pt x="2768600" y="0"/>
                </a:lnTo>
                <a:arcTo hR="76200" wR="76200" stAng="16200000" swAng="5400000"/>
                <a:lnTo>
                  <a:pt x="2844800" y="444500"/>
                </a:lnTo>
                <a:arcTo hR="76200" wR="76200" stAng="0" swAng="5400000"/>
                <a:lnTo>
                  <a:pt x="76200" y="520700"/>
                </a:lnTo>
                <a:arcTo hR="76200" wR="76200" stAng="5400000" swAng="5400000"/>
                <a:lnTo>
                  <a:pt x="0" y="76200"/>
                </a:lnTo>
                <a:arcTo hR="76200" wR="76200" stAng="10800000" swAng="5400000"/>
                <a:close/>
              </a:path>
            </a:pathLst>
          </a:custGeom>
          <a:solidFill>
            <a:srgbClr val="6B3D52"/>
          </a:solidFill>
          <a:ln/>
        </p:spPr>
        <p:txBody>
          <a:bodyPr wrap="square" lIns="0" tIns="127000" rIns="0" bIns="101600" rtlCol="0" anchor="t">
            <a:normAutofit/>
          </a:bodyPr>
          <a:lstStyle/>
          <a:p>
            <a:pPr algn="ctr" indent="0" marL="0">
              <a:lnSpc>
                <a:spcPts val="2100"/>
              </a:lnSpc>
              <a:buNone/>
            </a:pPr>
            <a:r>
              <a:rPr lang="en-US" sz="1500" dirty="0">
                <a:solidFill>
                  <a:srgbClr val="FBF8F9"/>
                </a:solidFill>
                <a:latin typeface="Roboto" pitchFamily="34" charset="0"/>
                <a:ea typeface="Roboto" pitchFamily="34" charset="-122"/>
                <a:cs typeface="Roboto" pitchFamily="34" charset="-120"/>
              </a:rPr>
              <a:t>Food points</a:t>
            </a:r>
            <a:endParaRPr lang="en-US" sz="1500" dirty="0"/>
          </a:p>
        </p:txBody>
      </p:sp>
      <p:sp>
        <p:nvSpPr>
          <p:cNvPr id="15" name="Text 13"/>
          <p:cNvSpPr/>
          <p:nvPr/>
        </p:nvSpPr>
        <p:spPr>
          <a:xfrm>
            <a:off x="8940800" y="2857500"/>
            <a:ext cx="2844800" cy="520700"/>
          </a:xfrm>
          <a:custGeom>
            <a:avLst/>
            <a:gdLst/>
            <a:ahLst/>
            <a:cxnLst/>
            <a:rect l="l" t="t" r="r" b="b"/>
            <a:pathLst>
              <a:path w="2844800" h="520700">
                <a:moveTo>
                  <a:pt x="76200" y="0"/>
                </a:moveTo>
                <a:lnTo>
                  <a:pt x="2768600" y="0"/>
                </a:lnTo>
                <a:arcTo hR="76200" wR="76200" stAng="16200000" swAng="5400000"/>
                <a:lnTo>
                  <a:pt x="2844800" y="444500"/>
                </a:lnTo>
                <a:arcTo hR="76200" wR="76200" stAng="0" swAng="5400000"/>
                <a:lnTo>
                  <a:pt x="76200" y="520700"/>
                </a:lnTo>
                <a:arcTo hR="76200" wR="76200" stAng="5400000" swAng="5400000"/>
                <a:lnTo>
                  <a:pt x="0" y="76200"/>
                </a:lnTo>
                <a:arcTo hR="76200" wR="76200" stAng="10800000" swAng="5400000"/>
                <a:close/>
              </a:path>
            </a:pathLst>
          </a:custGeom>
          <a:solidFill>
            <a:srgbClr val="6B3D52"/>
          </a:solidFill>
          <a:ln/>
        </p:spPr>
        <p:txBody>
          <a:bodyPr wrap="square" lIns="0" tIns="127000" rIns="0" bIns="101600" rtlCol="0" anchor="t">
            <a:normAutofit/>
          </a:bodyPr>
          <a:lstStyle/>
          <a:p>
            <a:pPr algn="ctr" indent="0" marL="0">
              <a:lnSpc>
                <a:spcPts val="2100"/>
              </a:lnSpc>
              <a:buNone/>
            </a:pPr>
            <a:r>
              <a:rPr lang="en-US" sz="1500" dirty="0">
                <a:solidFill>
                  <a:srgbClr val="FBF8F9"/>
                </a:solidFill>
                <a:latin typeface="Roboto" pitchFamily="34" charset="0"/>
                <a:ea typeface="Roboto" pitchFamily="34" charset="-122"/>
                <a:cs typeface="Roboto" pitchFamily="34" charset="-120"/>
              </a:rPr>
              <a:t>Travel points</a:t>
            </a:r>
            <a:endParaRPr lang="en-US" sz="1500" dirty="0"/>
          </a:p>
        </p:txBody>
      </p:sp>
      <p:pic>
        <p:nvPicPr>
          <p:cNvPr id="16" name="Image 0" descr="arrow-down">    </p:cNvPr>
          <p:cNvPicPr>
            <a:picLocks noChangeAspect="1"/>
          </p:cNvPicPr>
          <p:nvPr/>
        </p:nvPicPr>
        <p:blipFill>
          <a:blip r:embed="rId1"/>
          <a:srcRect l="0" r="0" t="0" b="0"/>
          <a:stretch/>
        </p:blipFill>
        <p:spPr>
          <a:xfrm>
            <a:off x="10210800" y="3556000"/>
            <a:ext cx="304800" cy="533400"/>
          </a:xfrm>
          <a:prstGeom prst="rect">
            <a:avLst/>
          </a:prstGeom>
        </p:spPr>
      </p:pic>
      <p:sp>
        <p:nvSpPr>
          <p:cNvPr id="17" name="Text 14"/>
          <p:cNvSpPr/>
          <p:nvPr/>
        </p:nvSpPr>
        <p:spPr>
          <a:xfrm>
            <a:off x="8940800" y="4254500"/>
            <a:ext cx="2844800" cy="675626"/>
          </a:xfrm>
          <a:custGeom>
            <a:avLst/>
            <a:gdLst/>
            <a:ahLst/>
            <a:cxnLst/>
            <a:rect l="l" t="t" r="r" b="b"/>
            <a:pathLst>
              <a:path w="2844800" h="675626">
                <a:moveTo>
                  <a:pt x="76200" y="0"/>
                </a:moveTo>
                <a:lnTo>
                  <a:pt x="2768600" y="0"/>
                </a:lnTo>
                <a:arcTo hR="76200" wR="76200" stAng="16200000" swAng="5400000"/>
                <a:lnTo>
                  <a:pt x="2844800" y="599426"/>
                </a:lnTo>
                <a:arcTo hR="76200" wR="76200" stAng="0" swAng="5400000"/>
                <a:lnTo>
                  <a:pt x="76200" y="675626"/>
                </a:lnTo>
                <a:arcTo hR="76200" wR="76200" stAng="5400000" swAng="5400000"/>
                <a:lnTo>
                  <a:pt x="0" y="76200"/>
                </a:lnTo>
                <a:arcTo hR="76200" wR="76200" stAng="10800000" swAng="5400000"/>
                <a:close/>
              </a:path>
            </a:pathLst>
          </a:custGeom>
          <a:solidFill>
            <a:srgbClr val="F5EAEE"/>
          </a:solidFill>
          <a:ln/>
        </p:spPr>
        <p:txBody>
          <a:bodyPr wrap="square" lIns="0" tIns="177800" rIns="0" bIns="152400" rtlCol="0" anchor="t">
            <a:normAutofit/>
          </a:bodyPr>
          <a:lstStyle/>
          <a:p>
            <a:pPr algn="ctr" indent="0" marL="0">
              <a:lnSpc>
                <a:spcPts val="2520"/>
              </a:lnSpc>
              <a:buNone/>
            </a:pPr>
            <a:r>
              <a:rPr lang="en-US" sz="1800" dirty="0">
                <a:solidFill>
                  <a:srgbClr val="4B2839"/>
                </a:solidFill>
                <a:latin typeface="Roboto" pitchFamily="34" charset="0"/>
                <a:ea typeface="Roboto" pitchFamily="34" charset="-122"/>
                <a:cs typeface="Roboto" pitchFamily="34" charset="-120"/>
              </a:rPr>
              <a:t>One wallet</a:t>
            </a:r>
            <a:endParaRPr lang="en-US" sz="1800" dirty="0"/>
          </a:p>
        </p:txBody>
      </p:sp>
      <p:sp>
        <p:nvSpPr>
          <p:cNvPr id="18" name="Text 15"/>
          <p:cNvSpPr/>
          <p:nvPr/>
        </p:nvSpPr>
        <p:spPr>
          <a:xfrm>
            <a:off x="8898128" y="5080000"/>
            <a:ext cx="2930144" cy="238738"/>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9C3CC"/>
                </a:solidFill>
                <a:latin typeface="Roboto" pitchFamily="34" charset="0"/>
                <a:ea typeface="Roboto" pitchFamily="34" charset="-122"/>
                <a:cs typeface="Roboto" pitchFamily="34" charset="-120"/>
              </a:rPr>
              <a:t>Balances · expiry alerts · rewards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01</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Problem Statement</a:t>
            </a:r>
            <a:endParaRPr lang="en-US" sz="3200" dirty="0"/>
          </a:p>
        </p:txBody>
      </p:sp>
      <p:sp>
        <p:nvSpPr>
          <p:cNvPr id="4" name="Text 2"/>
          <p:cNvSpPr/>
          <p:nvPr/>
        </p:nvSpPr>
        <p:spPr>
          <a:xfrm>
            <a:off x="812800" y="1747477"/>
            <a:ext cx="10883392" cy="676852"/>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4B2839"/>
                </a:solidFill>
                <a:latin typeface="Roboto" pitchFamily="34" charset="0"/>
                <a:ea typeface="Roboto" pitchFamily="34" charset="-122"/>
                <a:cs typeface="Roboto" pitchFamily="34" charset="-120"/>
              </a:rPr>
              <a:t>Customers hold loyalty points across many brands and apps, forget them, and lose them when they expire.</a:t>
            </a:r>
            <a:endParaRPr lang="en-US" sz="1900" dirty="0"/>
          </a:p>
        </p:txBody>
      </p:sp>
      <p:sp>
        <p:nvSpPr>
          <p:cNvPr id="5" name="Shape 3"/>
          <p:cNvSpPr/>
          <p:nvPr/>
        </p:nvSpPr>
        <p:spPr>
          <a:xfrm>
            <a:off x="815975" y="2605305"/>
            <a:ext cx="5175250" cy="2144099"/>
          </a:xfrm>
          <a:prstGeom prst="roundRect">
            <a:avLst>
              <a:gd name="adj" fmla="val 4591"/>
            </a:avLst>
          </a:prstGeom>
          <a:solidFill>
            <a:srgbClr val="F5EAEE"/>
          </a:solidFill>
          <a:ln w="6350">
            <a:solidFill>
              <a:srgbClr val="DEC8D0"/>
            </a:solidFill>
            <a:prstDash val="solid"/>
          </a:ln>
        </p:spPr>
      </p:sp>
      <p:sp>
        <p:nvSpPr>
          <p:cNvPr id="6" name="Text 4"/>
          <p:cNvSpPr/>
          <p:nvPr/>
        </p:nvSpPr>
        <p:spPr>
          <a:xfrm>
            <a:off x="1046018" y="2835347"/>
            <a:ext cx="4856619" cy="299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B2839"/>
                </a:solidFill>
                <a:latin typeface="Roboto" pitchFamily="34" charset="0"/>
                <a:ea typeface="Roboto" pitchFamily="34" charset="-122"/>
                <a:cs typeface="Roboto" pitchFamily="34" charset="-120"/>
              </a:rPr>
              <a:t>Background</a:t>
            </a:r>
            <a:endParaRPr lang="en-US" sz="1800" dirty="0"/>
          </a:p>
        </p:txBody>
      </p:sp>
      <p:sp>
        <p:nvSpPr>
          <p:cNvPr id="7" name="Text 5"/>
          <p:cNvSpPr/>
          <p:nvPr/>
        </p:nvSpPr>
        <p:spPr>
          <a:xfrm>
            <a:off x="1136950" y="3185861"/>
            <a:ext cx="4758067" cy="1358900"/>
          </a:xfrm>
          <a:prstGeom prst="rect">
            <a:avLst/>
          </a:prstGeom>
          <a:noFill/>
          <a:ln/>
        </p:spPr>
        <p:txBody>
          <a:bodyPr wrap="square" lIns="0" tIns="0" rIns="0" bIns="0" rtlCol="0" anchor="t">
            <a:normAutofit/>
          </a:bodyPr>
          <a:lstStyle/>
          <a:p>
            <a:pPr algn="l" marL="163068" indent="-163068">
              <a:lnSpc>
                <a:spcPts val="2100"/>
              </a:lnSpc>
              <a:buSzPct val="100000"/>
              <a:buChar char="•"/>
            </a:pPr>
            <a:r>
              <a:rPr lang="en-US" sz="1400" dirty="0">
                <a:solidFill>
                  <a:srgbClr val="3A2F33"/>
                </a:solidFill>
                <a:latin typeface="Roboto" pitchFamily="34" charset="0"/>
                <a:ea typeface="Roboto" pitchFamily="34" charset="-122"/>
                <a:cs typeface="Roboto" pitchFamily="34" charset="-120"/>
              </a:rPr>
              <a:t>A typical user has points spread over several brands, apps and accounts.</a:t>
            </a:r>
            <a:endParaRPr lang="en-US" sz="1400" dirty="0"/>
          </a:p>
          <a:p>
            <a:pPr algn="l" marL="163068" indent="-163068">
              <a:lnSpc>
                <a:spcPts val="2100"/>
              </a:lnSpc>
              <a:buSzPct val="100000"/>
              <a:buChar char="•"/>
            </a:pPr>
            <a:r>
              <a:rPr lang="en-US" sz="1400" dirty="0">
                <a:solidFill>
                  <a:srgbClr val="3A2F33"/>
                </a:solidFill>
                <a:latin typeface="Roboto" pitchFamily="34" charset="0"/>
                <a:ea typeface="Roboto" pitchFamily="34" charset="-122"/>
                <a:cs typeface="Roboto" pitchFamily="34" charset="-120"/>
              </a:rPr>
              <a:t>Balances, expiry dates and available rewards are hard to track.</a:t>
            </a:r>
            <a:endParaRPr lang="en-US" sz="1400" dirty="0"/>
          </a:p>
          <a:p>
            <a:pPr algn="l" marL="163068" indent="-163068">
              <a:lnSpc>
                <a:spcPts val="2100"/>
              </a:lnSpc>
              <a:buSzPct val="100000"/>
              <a:buChar char="•"/>
            </a:pPr>
            <a:r>
              <a:rPr lang="en-US" sz="1400" dirty="0">
                <a:solidFill>
                  <a:srgbClr val="3A2F33"/>
                </a:solidFill>
                <a:latin typeface="Roboto" pitchFamily="34" charset="0"/>
                <a:ea typeface="Roboto" pitchFamily="34" charset="-122"/>
                <a:cs typeface="Roboto" pitchFamily="34" charset="-120"/>
              </a:rPr>
              <a:t>Users forget they hold points and miss expiry dates.</a:t>
            </a:r>
            <a:endParaRPr lang="en-US" sz="1400" dirty="0"/>
          </a:p>
        </p:txBody>
      </p:sp>
      <p:sp>
        <p:nvSpPr>
          <p:cNvPr id="8" name="Shape 6"/>
          <p:cNvSpPr/>
          <p:nvPr/>
        </p:nvSpPr>
        <p:spPr>
          <a:xfrm>
            <a:off x="6200775" y="2605305"/>
            <a:ext cx="5175250" cy="2144099"/>
          </a:xfrm>
          <a:prstGeom prst="roundRect">
            <a:avLst>
              <a:gd name="adj" fmla="val 4591"/>
            </a:avLst>
          </a:prstGeom>
          <a:solidFill>
            <a:srgbClr val="F5EAEE"/>
          </a:solidFill>
          <a:ln w="6350">
            <a:solidFill>
              <a:srgbClr val="DEC8D0"/>
            </a:solidFill>
            <a:prstDash val="solid"/>
          </a:ln>
        </p:spPr>
      </p:sp>
      <p:sp>
        <p:nvSpPr>
          <p:cNvPr id="9" name="Text 7"/>
          <p:cNvSpPr/>
          <p:nvPr/>
        </p:nvSpPr>
        <p:spPr>
          <a:xfrm>
            <a:off x="6430818" y="2835347"/>
            <a:ext cx="4856619" cy="299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B2839"/>
                </a:solidFill>
                <a:latin typeface="Roboto" pitchFamily="34" charset="0"/>
                <a:ea typeface="Roboto" pitchFamily="34" charset="-122"/>
                <a:cs typeface="Roboto" pitchFamily="34" charset="-120"/>
              </a:rPr>
              <a:t>Existing Challenges</a:t>
            </a:r>
            <a:endParaRPr lang="en-US" sz="1800" dirty="0"/>
          </a:p>
        </p:txBody>
      </p:sp>
      <p:sp>
        <p:nvSpPr>
          <p:cNvPr id="10" name="Text 8"/>
          <p:cNvSpPr/>
          <p:nvPr/>
        </p:nvSpPr>
        <p:spPr>
          <a:xfrm>
            <a:off x="6521750" y="3185861"/>
            <a:ext cx="4758067" cy="1092200"/>
          </a:xfrm>
          <a:prstGeom prst="rect">
            <a:avLst/>
          </a:prstGeom>
          <a:noFill/>
          <a:ln/>
        </p:spPr>
        <p:txBody>
          <a:bodyPr wrap="square" lIns="0" tIns="0" rIns="0" bIns="0" rtlCol="0" anchor="t">
            <a:normAutofit/>
          </a:bodyPr>
          <a:lstStyle/>
          <a:p>
            <a:pPr algn="l" marL="163068" indent="-163068">
              <a:lnSpc>
                <a:spcPts val="2100"/>
              </a:lnSpc>
              <a:buSzPct val="100000"/>
              <a:buChar char="•"/>
            </a:pPr>
            <a:r>
              <a:rPr lang="en-US" sz="1400" dirty="0">
                <a:solidFill>
                  <a:srgbClr val="3A2F33"/>
                </a:solidFill>
                <a:latin typeface="Roboto" pitchFamily="34" charset="0"/>
                <a:ea typeface="Roboto" pitchFamily="34" charset="-122"/>
                <a:cs typeface="Roboto" pitchFamily="34" charset="-120"/>
              </a:rPr>
              <a:t>Point values cannot be compared across programs.</a:t>
            </a:r>
            <a:endParaRPr lang="en-US" sz="1400" dirty="0"/>
          </a:p>
          <a:p>
            <a:pPr algn="l" marL="163068" indent="-163068">
              <a:lnSpc>
                <a:spcPts val="2100"/>
              </a:lnSpc>
              <a:buSzPct val="100000"/>
              <a:buChar char="•"/>
            </a:pPr>
            <a:r>
              <a:rPr lang="en-US" sz="1400" dirty="0">
                <a:solidFill>
                  <a:srgbClr val="3A2F33"/>
                </a:solidFill>
                <a:latin typeface="Roboto" pitchFamily="34" charset="0"/>
                <a:ea typeface="Roboto" pitchFamily="34" charset="-122"/>
                <a:cs typeface="Roboto" pitchFamily="34" charset="-120"/>
              </a:rPr>
              <a:t>Users pick rewards by hand, with little personalization.</a:t>
            </a:r>
            <a:endParaRPr lang="en-US" sz="1400" dirty="0"/>
          </a:p>
          <a:p>
            <a:pPr algn="l" marL="163068" indent="-163068">
              <a:lnSpc>
                <a:spcPts val="2100"/>
              </a:lnSpc>
              <a:buSzPct val="100000"/>
              <a:buChar char="•"/>
            </a:pPr>
            <a:r>
              <a:rPr lang="en-US" sz="1400" dirty="0">
                <a:solidFill>
                  <a:srgbClr val="3A2F33"/>
                </a:solidFill>
                <a:latin typeface="Roboto" pitchFamily="34" charset="0"/>
                <a:ea typeface="Roboto" pitchFamily="34" charset="-122"/>
                <a:cs typeface="Roboto" pitchFamily="34" charset="-120"/>
              </a:rPr>
              <a:t>Businesses lack one view of loyalty activity and engagement.</a:t>
            </a:r>
            <a:endParaRPr lang="en-US" sz="1400" dirty="0"/>
          </a:p>
        </p:txBody>
      </p:sp>
      <p:sp>
        <p:nvSpPr>
          <p:cNvPr id="11" name="Text 9"/>
          <p:cNvSpPr/>
          <p:nvPr/>
        </p:nvSpPr>
        <p:spPr>
          <a:xfrm>
            <a:off x="812800" y="6238263"/>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12" name="Text 10"/>
          <p:cNvSpPr/>
          <p:nvPr/>
        </p:nvSpPr>
        <p:spPr>
          <a:xfrm>
            <a:off x="10058400" y="6238263"/>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01</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Justification of the Project</a:t>
            </a:r>
            <a:endParaRPr lang="en-US" sz="3200" dirty="0"/>
          </a:p>
        </p:txBody>
      </p:sp>
      <p:sp>
        <p:nvSpPr>
          <p:cNvPr id="4" name="Shape 2"/>
          <p:cNvSpPr/>
          <p:nvPr/>
        </p:nvSpPr>
        <p:spPr>
          <a:xfrm>
            <a:off x="812800" y="1747478"/>
            <a:ext cx="3556000" cy="3170598"/>
          </a:xfrm>
          <a:prstGeom prst="roundRect">
            <a:avLst>
              <a:gd name="adj" fmla="val 3204"/>
            </a:avLst>
          </a:prstGeom>
          <a:solidFill>
            <a:srgbClr val="4B2839"/>
          </a:solidFill>
          <a:ln/>
        </p:spPr>
      </p:sp>
      <p:sp>
        <p:nvSpPr>
          <p:cNvPr id="5" name="Text 3"/>
          <p:cNvSpPr/>
          <p:nvPr/>
        </p:nvSpPr>
        <p:spPr>
          <a:xfrm>
            <a:off x="1117600" y="2629838"/>
            <a:ext cx="3034792" cy="1073150"/>
          </a:xfrm>
          <a:prstGeom prst="rect">
            <a:avLst/>
          </a:prstGeom>
          <a:noFill/>
          <a:ln/>
        </p:spPr>
        <p:txBody>
          <a:bodyPr wrap="square" lIns="0" tIns="0" rIns="0" bIns="0" rtlCol="0" anchor="t">
            <a:normAutofit/>
          </a:bodyPr>
          <a:lstStyle/>
          <a:p>
            <a:pPr algn="l" indent="0" marL="0">
              <a:lnSpc>
                <a:spcPts val="2750"/>
              </a:lnSpc>
              <a:buNone/>
            </a:pPr>
            <a:r>
              <a:rPr lang="en-US" sz="2200" i="1" dirty="0">
                <a:solidFill>
                  <a:srgbClr val="FBF8F9"/>
                </a:solidFill>
                <a:latin typeface="Roboto" pitchFamily="34" charset="0"/>
                <a:ea typeface="Roboto" pitchFamily="34" charset="-122"/>
                <a:cs typeface="Roboto" pitchFamily="34" charset="-120"/>
              </a:rPr>
              <a:t>One wallet for every loyalty point a customer owns.</a:t>
            </a:r>
            <a:endParaRPr lang="en-US" sz="2200" dirty="0"/>
          </a:p>
        </p:txBody>
      </p:sp>
      <p:sp>
        <p:nvSpPr>
          <p:cNvPr id="6" name="Text 4"/>
          <p:cNvSpPr/>
          <p:nvPr/>
        </p:nvSpPr>
        <p:spPr>
          <a:xfrm>
            <a:off x="1117600" y="3804588"/>
            <a:ext cx="3251200"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C3CC"/>
                </a:solidFill>
                <a:latin typeface="Roboto" pitchFamily="34" charset="0"/>
                <a:ea typeface="Roboto" pitchFamily="34" charset="-122"/>
                <a:cs typeface="Roboto" pitchFamily="34" charset="-120"/>
              </a:rPr>
              <a:t>Aggregate, compare, alert, recommend.</a:t>
            </a:r>
            <a:endParaRPr lang="en-US" sz="1300" dirty="0"/>
          </a:p>
        </p:txBody>
      </p:sp>
      <p:sp>
        <p:nvSpPr>
          <p:cNvPr id="7" name="Shape 5"/>
          <p:cNvSpPr/>
          <p:nvPr/>
        </p:nvSpPr>
        <p:spPr>
          <a:xfrm>
            <a:off x="4575175" y="1750653"/>
            <a:ext cx="6800850" cy="1502749"/>
          </a:xfrm>
          <a:prstGeom prst="roundRect">
            <a:avLst>
              <a:gd name="adj" fmla="val 6550"/>
            </a:avLst>
          </a:prstGeom>
          <a:solidFill>
            <a:srgbClr val="F5EAEE"/>
          </a:solidFill>
          <a:ln w="6350">
            <a:solidFill>
              <a:srgbClr val="DEC8D0"/>
            </a:solidFill>
            <a:prstDash val="solid"/>
          </a:ln>
        </p:spPr>
      </p:sp>
      <p:sp>
        <p:nvSpPr>
          <p:cNvPr id="8" name="Text 6"/>
          <p:cNvSpPr/>
          <p:nvPr/>
        </p:nvSpPr>
        <p:spPr>
          <a:xfrm>
            <a:off x="4779818" y="1955295"/>
            <a:ext cx="6583311" cy="299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B2839"/>
                </a:solidFill>
                <a:latin typeface="Roboto" pitchFamily="34" charset="0"/>
                <a:ea typeface="Roboto" pitchFamily="34" charset="-122"/>
                <a:cs typeface="Roboto" pitchFamily="34" charset="-120"/>
              </a:rPr>
              <a:t>Need for the Project</a:t>
            </a:r>
            <a:endParaRPr lang="en-US" sz="1800" dirty="0"/>
          </a:p>
        </p:txBody>
      </p:sp>
      <p:sp>
        <p:nvSpPr>
          <p:cNvPr id="9" name="Text 7"/>
          <p:cNvSpPr/>
          <p:nvPr/>
        </p:nvSpPr>
        <p:spPr>
          <a:xfrm>
            <a:off x="4884212" y="2305808"/>
            <a:ext cx="6471297" cy="768350"/>
          </a:xfrm>
          <a:prstGeom prst="rect">
            <a:avLst/>
          </a:prstGeom>
          <a:noFill/>
          <a:ln/>
        </p:spPr>
        <p:txBody>
          <a:bodyPr wrap="square" lIns="0" tIns="0" rIns="0" bIns="0" rtlCol="0" anchor="t">
            <a:normAutofit/>
          </a:bodyPr>
          <a:lstStyle/>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Scattered points are forgotten or expire unused.</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Values must be normalized to compare programs.</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Plug-in connectors let real APIs replace mock ones.</a:t>
            </a:r>
            <a:endParaRPr lang="en-US" sz="1300" dirty="0"/>
          </a:p>
        </p:txBody>
      </p:sp>
      <p:sp>
        <p:nvSpPr>
          <p:cNvPr id="10" name="Shape 8"/>
          <p:cNvSpPr/>
          <p:nvPr/>
        </p:nvSpPr>
        <p:spPr>
          <a:xfrm>
            <a:off x="4575175" y="3412151"/>
            <a:ext cx="6800850" cy="1502749"/>
          </a:xfrm>
          <a:prstGeom prst="roundRect">
            <a:avLst>
              <a:gd name="adj" fmla="val 6550"/>
            </a:avLst>
          </a:prstGeom>
          <a:solidFill>
            <a:srgbClr val="F5EAEE"/>
          </a:solidFill>
          <a:ln w="6350">
            <a:solidFill>
              <a:srgbClr val="DEC8D0"/>
            </a:solidFill>
            <a:prstDash val="solid"/>
          </a:ln>
        </p:spPr>
      </p:sp>
      <p:sp>
        <p:nvSpPr>
          <p:cNvPr id="11" name="Text 9"/>
          <p:cNvSpPr/>
          <p:nvPr/>
        </p:nvSpPr>
        <p:spPr>
          <a:xfrm>
            <a:off x="4779818" y="3616795"/>
            <a:ext cx="6583311" cy="299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B2839"/>
                </a:solidFill>
                <a:latin typeface="Roboto" pitchFamily="34" charset="0"/>
                <a:ea typeface="Roboto" pitchFamily="34" charset="-122"/>
                <a:cs typeface="Roboto" pitchFamily="34" charset="-120"/>
              </a:rPr>
              <a:t>Motivation</a:t>
            </a:r>
            <a:endParaRPr lang="en-US" sz="1800" dirty="0"/>
          </a:p>
        </p:txBody>
      </p:sp>
      <p:sp>
        <p:nvSpPr>
          <p:cNvPr id="12" name="Text 10"/>
          <p:cNvSpPr/>
          <p:nvPr/>
        </p:nvSpPr>
        <p:spPr>
          <a:xfrm>
            <a:off x="4884212" y="3967307"/>
            <a:ext cx="6471297" cy="768350"/>
          </a:xfrm>
          <a:prstGeom prst="rect">
            <a:avLst/>
          </a:prstGeom>
          <a:noFill/>
          <a:ln/>
        </p:spPr>
        <p:txBody>
          <a:bodyPr wrap="square" lIns="0" tIns="0" rIns="0" bIns="0" rtlCol="0" anchor="t">
            <a:normAutofit/>
          </a:bodyPr>
          <a:lstStyle/>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Reduce lost rewards with timely expiry alerts.</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Give businesses one view of loyalty and engagement.</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Apply full-stack, database and ML skills to a real problem.</a:t>
            </a:r>
            <a:endParaRPr lang="en-US" sz="1300" dirty="0"/>
          </a:p>
        </p:txBody>
      </p:sp>
      <p:sp>
        <p:nvSpPr>
          <p:cNvPr id="13" name="Text 11"/>
          <p:cNvSpPr/>
          <p:nvPr/>
        </p:nvSpPr>
        <p:spPr>
          <a:xfrm>
            <a:off x="812800" y="6238263"/>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14" name="Text 12"/>
          <p:cNvSpPr/>
          <p:nvPr/>
        </p:nvSpPr>
        <p:spPr>
          <a:xfrm>
            <a:off x="10058400" y="6238263"/>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01</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Existing System vs Proposed System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759023"/>
          <a:ext cx="10554855" cy="3078884"/>
        </p:xfrm>
        <a:graphic>
          <a:graphicData uri="http://schemas.openxmlformats.org/drawingml/2006/table">
            <a:tbl>
              <a:tblPr/>
              <a:tblGrid>
                <a:gridCol w="5277427"/>
                <a:gridCol w="5277427"/>
              </a:tblGrid>
              <a:tr h="384861">
                <a:tc>
                  <a:txBody>
                    <a:bodyPr/>
                    <a:lstStyle/>
                    <a:p>
                      <a:pPr indent="0" marL="0">
                        <a:lnSpc>
                          <a:spcPts val="1960"/>
                        </a:lnSpc>
                        <a:buNone/>
                      </a:pPr>
                      <a:r>
                        <a:rPr lang="en-US" sz="1400" b="1" dirty="0">
                          <a:solidFill>
                            <a:srgbClr val="FBF8F9"/>
                          </a:solidFill>
                          <a:latin typeface="Roboto" pitchFamily="34" charset="0"/>
                          <a:ea typeface="Roboto" pitchFamily="34" charset="-122"/>
                          <a:cs typeface="Roboto" pitchFamily="34" charset="-120"/>
                        </a:rPr>
                        <a:t>Existing System</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960"/>
                        </a:lnSpc>
                        <a:buNone/>
                      </a:pPr>
                      <a:r>
                        <a:rPr lang="en-US" sz="1400" b="1" dirty="0">
                          <a:solidFill>
                            <a:srgbClr val="FBF8F9"/>
                          </a:solidFill>
                          <a:latin typeface="Roboto" pitchFamily="34" charset="0"/>
                          <a:ea typeface="Roboto" pitchFamily="34" charset="-122"/>
                          <a:cs typeface="Roboto" pitchFamily="34" charset="-120"/>
                        </a:rPr>
                        <a:t>Proposed System</a:t>
                      </a:r>
                      <a:endParaRPr lang="en-US" sz="1400" dirty="0">
                        <a:latin typeface="Roboto" charset="0"/>
                        <a:ea typeface="Roboto" charset="0"/>
                        <a:cs typeface="Roboto" charset="0"/>
                      </a:endParaRPr>
                    </a:p>
                  </a:txBody>
                  <a:tcPr marL="62230" marR="62230" marT="62230" marB="62230"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Points managed separately in each program</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Many programs on one platform</a:t>
                      </a:r>
                      <a:endParaRPr lang="en-US" sz="1400" dirty="0">
                        <a:latin typeface="Roboto" charset="0"/>
                        <a:ea typeface="Roboto" charset="0"/>
                        <a:cs typeface="Roboto" charset="0"/>
                      </a:endParaRPr>
                    </a:p>
                  </a:txBody>
                  <a:tcPr marL="62230" marR="62230" marT="62230" marB="6223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Users check balances manually</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One dashboard for all points</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Users forget unused points</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Expiry alerts</a:t>
                      </a:r>
                      <a:endParaRPr lang="en-US" sz="1400" dirty="0">
                        <a:latin typeface="Roboto" charset="0"/>
                        <a:ea typeface="Roboto" charset="0"/>
                        <a:cs typeface="Roboto" charset="0"/>
                      </a:endParaRPr>
                    </a:p>
                  </a:txBody>
                  <a:tcPr marL="62230" marR="62230" marT="62230" marB="6223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Users pick rewards manually</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System recommends rewards</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Point values hard to compare</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Values normalized and compared</a:t>
                      </a:r>
                      <a:endParaRPr lang="en-US" sz="1400" dirty="0">
                        <a:latin typeface="Roboto" charset="0"/>
                        <a:ea typeface="Roboto" charset="0"/>
                        <a:cs typeface="Roboto" charset="0"/>
                      </a:endParaRPr>
                    </a:p>
                  </a:txBody>
                  <a:tcPr marL="62230" marR="62230" marT="62230" marB="6223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Limited personalization</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Personalized recommendations</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Basic loyalty management</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Loyalty management and optimization</a:t>
                      </a:r>
                      <a:endParaRPr lang="en-US" sz="1400" dirty="0">
                        <a:latin typeface="Roboto" charset="0"/>
                        <a:ea typeface="Roboto" charset="0"/>
                        <a:cs typeface="Roboto" charset="0"/>
                      </a:endParaRPr>
                    </a:p>
                  </a:txBody>
                  <a:tcPr marL="62230" marR="62230" marT="62230" marB="6223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bl>
          </a:graphicData>
        </a:graphic>
      </p:graphicFrame>
      <p:sp>
        <p:nvSpPr>
          <p:cNvPr id="5" name="Text 2"/>
          <p:cNvSpPr/>
          <p:nvPr/>
        </p:nvSpPr>
        <p:spPr>
          <a:xfrm>
            <a:off x="812800" y="6238261"/>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6" name="Text 3"/>
          <p:cNvSpPr/>
          <p:nvPr/>
        </p:nvSpPr>
        <p:spPr>
          <a:xfrm>
            <a:off x="10058400" y="6238261"/>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02</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Literature Survey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45" y="1759023"/>
          <a:ext cx="10554855" cy="2357293"/>
        </p:xfrm>
        <a:graphic>
          <a:graphicData uri="http://schemas.openxmlformats.org/drawingml/2006/table">
            <a:tbl>
              <a:tblPr/>
              <a:tblGrid>
                <a:gridCol w="738840"/>
                <a:gridCol w="844388"/>
                <a:gridCol w="2322068"/>
                <a:gridCol w="3483102"/>
                <a:gridCol w="3166456"/>
              </a:tblGrid>
              <a:tr h="358198">
                <a:tc>
                  <a:txBody>
                    <a:bodyPr/>
                    <a:lstStyle/>
                    <a:p>
                      <a:pPr indent="0" marL="0">
                        <a:lnSpc>
                          <a:spcPts val="1820"/>
                        </a:lnSpc>
                        <a:buNone/>
                      </a:pPr>
                      <a:r>
                        <a:rPr lang="en-US" sz="1300" b="1" dirty="0">
                          <a:solidFill>
                            <a:srgbClr val="FBF8F9"/>
                          </a:solidFill>
                          <a:latin typeface="Roboto" pitchFamily="34" charset="0"/>
                          <a:ea typeface="Roboto" pitchFamily="34" charset="-122"/>
                          <a:cs typeface="Roboto" pitchFamily="34" charset="-120"/>
                        </a:rPr>
                        <a:t>Ref</a:t>
                      </a:r>
                      <a:endParaRPr lang="en-US" sz="1300" dirty="0">
                        <a:latin typeface="Roboto" charset="0"/>
                        <a:ea typeface="Roboto" charset="0"/>
                        <a:cs typeface="Roboto" charset="0"/>
                      </a:endParaRPr>
                    </a:p>
                  </a:txBody>
                  <a:tcPr marL="57785" marR="57785" marT="57785" marB="57785" anchor="t">
                    <a:lnL w="12700" cap="flat" cmpd="sng" algn="ctr">
                      <a:solidFill>
                        <a:srgbClr val="C8C6C6"/>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820"/>
                        </a:lnSpc>
                        <a:buNone/>
                      </a:pPr>
                      <a:r>
                        <a:rPr lang="en-US" sz="1300" b="1" dirty="0">
                          <a:solidFill>
                            <a:srgbClr val="FBF8F9"/>
                          </a:solidFill>
                          <a:latin typeface="Roboto" pitchFamily="34" charset="0"/>
                          <a:ea typeface="Roboto" pitchFamily="34" charset="-122"/>
                          <a:cs typeface="Roboto" pitchFamily="34" charset="-120"/>
                        </a:rPr>
                        <a:t>Year</a:t>
                      </a:r>
                      <a:endParaRPr lang="en-US" sz="1300" dirty="0">
                        <a:latin typeface="Roboto" charset="0"/>
                        <a:ea typeface="Roboto" charset="0"/>
                        <a:cs typeface="Roboto" charset="0"/>
                      </a:endParaRPr>
                    </a:p>
                  </a:txBody>
                  <a:tcPr marL="57785" marR="57785" marT="57785" marB="57785"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820"/>
                        </a:lnSpc>
                        <a:buNone/>
                      </a:pPr>
                      <a:r>
                        <a:rPr lang="en-US" sz="1300" b="1" dirty="0">
                          <a:solidFill>
                            <a:srgbClr val="FBF8F9"/>
                          </a:solidFill>
                          <a:latin typeface="Roboto" pitchFamily="34" charset="0"/>
                          <a:ea typeface="Roboto" pitchFamily="34" charset="-122"/>
                          <a:cs typeface="Roboto" pitchFamily="34" charset="-120"/>
                        </a:rPr>
                        <a:t>Focus Area</a:t>
                      </a:r>
                      <a:endParaRPr lang="en-US" sz="1300" dirty="0">
                        <a:latin typeface="Roboto" charset="0"/>
                        <a:ea typeface="Roboto" charset="0"/>
                        <a:cs typeface="Roboto" charset="0"/>
                      </a:endParaRPr>
                    </a:p>
                  </a:txBody>
                  <a:tcPr marL="57785" marR="57785" marT="57785" marB="57785"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820"/>
                        </a:lnSpc>
                        <a:buNone/>
                      </a:pPr>
                      <a:r>
                        <a:rPr lang="en-US" sz="1300" b="1" dirty="0">
                          <a:solidFill>
                            <a:srgbClr val="FBF8F9"/>
                          </a:solidFill>
                          <a:latin typeface="Roboto" pitchFamily="34" charset="0"/>
                          <a:ea typeface="Roboto" pitchFamily="34" charset="-122"/>
                          <a:cs typeface="Roboto" pitchFamily="34" charset="-120"/>
                        </a:rPr>
                        <a:t>Key Contribution</a:t>
                      </a:r>
                      <a:endParaRPr lang="en-US" sz="1300" dirty="0">
                        <a:latin typeface="Roboto" charset="0"/>
                        <a:ea typeface="Roboto" charset="0"/>
                        <a:cs typeface="Roboto" charset="0"/>
                      </a:endParaRPr>
                    </a:p>
                  </a:txBody>
                  <a:tcPr marL="57785" marR="57785" marT="57785" marB="57785"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820"/>
                        </a:lnSpc>
                        <a:buNone/>
                      </a:pPr>
                      <a:r>
                        <a:rPr lang="en-US" sz="1300" b="1" dirty="0">
                          <a:solidFill>
                            <a:srgbClr val="FBF8F9"/>
                          </a:solidFill>
                          <a:latin typeface="Roboto" pitchFamily="34" charset="0"/>
                          <a:ea typeface="Roboto" pitchFamily="34" charset="-122"/>
                          <a:cs typeface="Roboto" pitchFamily="34" charset="-120"/>
                        </a:rPr>
                        <a:t>Limitation</a:t>
                      </a:r>
                      <a:endParaRPr lang="en-US" sz="1300" dirty="0">
                        <a:latin typeface="Roboto" charset="0"/>
                        <a:ea typeface="Roboto" charset="0"/>
                        <a:cs typeface="Roboto" charset="0"/>
                      </a:endParaRPr>
                    </a:p>
                  </a:txBody>
                  <a:tcPr marL="57785" marR="57785" marT="57785" marB="57785"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r>
              <a:tr h="820449">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[1]</a:t>
                      </a:r>
                      <a:endParaRPr lang="en-US" sz="1300" dirty="0">
                        <a:latin typeface="Roboto" charset="0"/>
                        <a:ea typeface="Roboto" charset="0"/>
                        <a:cs typeface="Roboto" charset="0"/>
                      </a:endParaRPr>
                    </a:p>
                  </a:txBody>
                  <a:tcPr marL="57785" marR="57785" marT="57785" marB="57785"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2025</a:t>
                      </a:r>
                      <a:endParaRPr lang="en-US" sz="1300" dirty="0">
                        <a:latin typeface="Roboto" charset="0"/>
                        <a:ea typeface="Roboto" charset="0"/>
                        <a:cs typeface="Roboto" charset="0"/>
                      </a:endParaRPr>
                    </a:p>
                  </a:txBody>
                  <a:tcPr marL="57785" marR="57785" marT="57785" marB="57785"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Redemption analytics in multi-vendor loyalty programs</a:t>
                      </a:r>
                      <a:endParaRPr lang="en-US" sz="1300" dirty="0">
                        <a:latin typeface="Roboto" charset="0"/>
                        <a:ea typeface="Roboto" charset="0"/>
                        <a:cs typeface="Roboto" charset="0"/>
                      </a:endParaRPr>
                    </a:p>
                  </a:txBody>
                  <a:tcPr marL="57785" marR="57785" marT="57785" marB="57785"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Design science approach to customer redemption analytics (Li, Pee, Pan, Xie) [add key method]</a:t>
                      </a:r>
                      <a:endParaRPr lang="en-US" sz="1300" dirty="0">
                        <a:latin typeface="Roboto" charset="0"/>
                        <a:ea typeface="Roboto" charset="0"/>
                        <a:cs typeface="Roboto" charset="0"/>
                      </a:endParaRPr>
                    </a:p>
                  </a:txBody>
                  <a:tcPr marL="57785" marR="57785" marT="57785" marB="57785"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[Add limitation from the paper]</a:t>
                      </a:r>
                      <a:endParaRPr lang="en-US" sz="1300" dirty="0">
                        <a:latin typeface="Roboto" charset="0"/>
                        <a:ea typeface="Roboto" charset="0"/>
                        <a:cs typeface="Roboto" charset="0"/>
                      </a:endParaRPr>
                    </a:p>
                  </a:txBody>
                  <a:tcPr marL="57785" marR="57785" marT="57785" marB="57785"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589323">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[2]</a:t>
                      </a:r>
                      <a:endParaRPr lang="en-US" sz="1300" dirty="0">
                        <a:latin typeface="Roboto" charset="0"/>
                        <a:ea typeface="Roboto" charset="0"/>
                        <a:cs typeface="Roboto" charset="0"/>
                      </a:endParaRPr>
                    </a:p>
                  </a:txBody>
                  <a:tcPr marL="57785" marR="57785" marT="57785" marB="57785"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[Year]</a:t>
                      </a:r>
                      <a:endParaRPr lang="en-US" sz="1300" dirty="0">
                        <a:latin typeface="Roboto" charset="0"/>
                        <a:ea typeface="Roboto" charset="0"/>
                        <a:cs typeface="Roboto" charset="0"/>
                      </a:endParaRPr>
                    </a:p>
                  </a:txBody>
                  <a:tcPr marL="57785" marR="57785" marT="57785" marB="57785"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AwardWallet</a:t>
                      </a:r>
                      <a:endParaRPr lang="en-US" sz="1300" dirty="0">
                        <a:latin typeface="Roboto" charset="0"/>
                        <a:ea typeface="Roboto" charset="0"/>
                        <a:cs typeface="Roboto" charset="0"/>
                      </a:endParaRPr>
                    </a:p>
                  </a:txBody>
                  <a:tcPr marL="57785" marR="57785" marT="57785" marB="57785"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Existing platform in loyalty point tracking [verify features]</a:t>
                      </a:r>
                      <a:endParaRPr lang="en-US" sz="1300" dirty="0">
                        <a:latin typeface="Roboto" charset="0"/>
                        <a:ea typeface="Roboto" charset="0"/>
                        <a:cs typeface="Roboto" charset="0"/>
                      </a:endParaRPr>
                    </a:p>
                  </a:txBody>
                  <a:tcPr marL="57785" marR="57785" marT="57785" marB="57785"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[Add limitation]</a:t>
                      </a:r>
                      <a:endParaRPr lang="en-US" sz="1300" dirty="0">
                        <a:latin typeface="Roboto" charset="0"/>
                        <a:ea typeface="Roboto" charset="0"/>
                        <a:cs typeface="Roboto" charset="0"/>
                      </a:endParaRPr>
                    </a:p>
                  </a:txBody>
                  <a:tcPr marL="57785" marR="57785" marT="57785" marB="57785"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r h="589323">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[3]</a:t>
                      </a:r>
                      <a:endParaRPr lang="en-US" sz="1300" dirty="0">
                        <a:latin typeface="Roboto" charset="0"/>
                        <a:ea typeface="Roboto" charset="0"/>
                        <a:cs typeface="Roboto" charset="0"/>
                      </a:endParaRPr>
                    </a:p>
                  </a:txBody>
                  <a:tcPr marL="57785" marR="57785" marT="57785" marB="57785"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[Year]</a:t>
                      </a:r>
                      <a:endParaRPr lang="en-US" sz="1300" dirty="0">
                        <a:latin typeface="Roboto" charset="0"/>
                        <a:ea typeface="Roboto" charset="0"/>
                        <a:cs typeface="Roboto" charset="0"/>
                      </a:endParaRPr>
                    </a:p>
                  </a:txBody>
                  <a:tcPr marL="57785" marR="57785" marT="57785" marB="57785"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Points.com</a:t>
                      </a:r>
                      <a:endParaRPr lang="en-US" sz="1300" dirty="0">
                        <a:latin typeface="Roboto" charset="0"/>
                        <a:ea typeface="Roboto" charset="0"/>
                        <a:cs typeface="Roboto" charset="0"/>
                      </a:endParaRPr>
                    </a:p>
                  </a:txBody>
                  <a:tcPr marL="57785" marR="57785" marT="57785" marB="57785"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Existing platform in loyalty points [verify features]</a:t>
                      </a:r>
                      <a:endParaRPr lang="en-US" sz="1300" dirty="0">
                        <a:latin typeface="Roboto" charset="0"/>
                        <a:ea typeface="Roboto" charset="0"/>
                        <a:cs typeface="Roboto" charset="0"/>
                      </a:endParaRPr>
                    </a:p>
                  </a:txBody>
                  <a:tcPr marL="57785" marR="57785" marT="57785" marB="57785"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820"/>
                        </a:lnSpc>
                        <a:buNone/>
                      </a:pPr>
                      <a:r>
                        <a:rPr lang="en-US" sz="1300" dirty="0">
                          <a:solidFill>
                            <a:srgbClr val="3A2F33"/>
                          </a:solidFill>
                          <a:latin typeface="Roboto" pitchFamily="34" charset="0"/>
                          <a:ea typeface="Roboto" pitchFamily="34" charset="-122"/>
                          <a:cs typeface="Roboto" pitchFamily="34" charset="-120"/>
                        </a:rPr>
                        <a:t>[Add limitation]</a:t>
                      </a:r>
                      <a:endParaRPr lang="en-US" sz="1300" dirty="0">
                        <a:latin typeface="Roboto" charset="0"/>
                        <a:ea typeface="Roboto" charset="0"/>
                        <a:cs typeface="Roboto" charset="0"/>
                      </a:endParaRPr>
                    </a:p>
                  </a:txBody>
                  <a:tcPr marL="57785" marR="57785" marT="57785" marB="57785"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bl>
          </a:graphicData>
        </a:graphic>
      </p:graphicFrame>
      <p:sp>
        <p:nvSpPr>
          <p:cNvPr id="5" name="Text 2"/>
          <p:cNvSpPr/>
          <p:nvPr/>
        </p:nvSpPr>
        <p:spPr>
          <a:xfrm>
            <a:off x="812800" y="6238264"/>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6" name="Text 3"/>
          <p:cNvSpPr/>
          <p:nvPr/>
        </p:nvSpPr>
        <p:spPr>
          <a:xfrm>
            <a:off x="10058400" y="6238264"/>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02</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Research Gap Identified</a:t>
            </a:r>
            <a:endParaRPr lang="en-US" sz="3200" dirty="0"/>
          </a:p>
        </p:txBody>
      </p:sp>
      <p:sp>
        <p:nvSpPr>
          <p:cNvPr id="4" name="Text 2"/>
          <p:cNvSpPr/>
          <p:nvPr/>
        </p:nvSpPr>
        <p:spPr>
          <a:xfrm>
            <a:off x="815975" y="1750653"/>
            <a:ext cx="10560050" cy="891886"/>
          </a:xfrm>
          <a:prstGeom prst="roundRect">
            <a:avLst>
              <a:gd name="adj" fmla="val 11036"/>
            </a:avLst>
          </a:prstGeom>
          <a:solidFill>
            <a:srgbClr val="F5EAEE"/>
          </a:solidFill>
          <a:ln w="6350">
            <a:solidFill>
              <a:srgbClr val="DEC8D0"/>
            </a:solidFill>
            <a:prstDash val="solid"/>
          </a:ln>
        </p:spPr>
        <p:txBody>
          <a:bodyPr wrap="square" lIns="201216" tIns="150415" rIns="0" bIns="125015" rtlCol="0" anchor="t">
            <a:normAutofit/>
          </a:bodyPr>
          <a:lstStyle/>
          <a:p>
            <a:pPr algn="l" indent="0" marL="0">
              <a:lnSpc>
                <a:spcPts val="2100"/>
              </a:lnSpc>
              <a:buNone/>
            </a:pPr>
            <a:r>
              <a:rPr lang="en-US" sz="1500" b="1" dirty="0">
                <a:solidFill>
                  <a:srgbClr val="4B2839"/>
                </a:solidFill>
                <a:latin typeface="Roboto" pitchFamily="34" charset="0"/>
                <a:ea typeface="Roboto" pitchFamily="34" charset="-122"/>
                <a:cs typeface="Roboto" pitchFamily="34" charset="-120"/>
              </a:rPr>
              <a:t>Research gap:</a:t>
            </a:r>
            <a:r>
              <a:rPr lang="en-US" sz="1500" dirty="0">
                <a:solidFill>
                  <a:srgbClr val="4B2839"/>
                </a:solidFill>
                <a:latin typeface="Roboto" pitchFamily="34" charset="0"/>
                <a:ea typeface="Roboto" pitchFamily="34" charset="-122"/>
                <a:cs typeface="Roboto" pitchFamily="34" charset="-120"/>
              </a:rPr>
              <a:t> loyalty points are managed program by program. One platform that aggregates them, normalizes their value, warns before expiry and explains reward choices is the focus of this work.</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45" y="2860460"/>
          <a:ext cx="10554855" cy="1924303"/>
        </p:xfrm>
        <a:graphic>
          <a:graphicData uri="http://schemas.openxmlformats.org/drawingml/2006/table">
            <a:tbl>
              <a:tblPr/>
              <a:tblGrid>
                <a:gridCol w="4749685"/>
                <a:gridCol w="5805170"/>
              </a:tblGrid>
              <a:tr h="384861">
                <a:tc>
                  <a:txBody>
                    <a:bodyPr/>
                    <a:lstStyle/>
                    <a:p>
                      <a:pPr indent="0" marL="0">
                        <a:lnSpc>
                          <a:spcPts val="1960"/>
                        </a:lnSpc>
                        <a:buNone/>
                      </a:pPr>
                      <a:r>
                        <a:rPr lang="en-US" sz="1400" b="1" dirty="0">
                          <a:solidFill>
                            <a:srgbClr val="FBF8F9"/>
                          </a:solidFill>
                          <a:latin typeface="Roboto" pitchFamily="34" charset="0"/>
                          <a:ea typeface="Roboto" pitchFamily="34" charset="-122"/>
                          <a:cs typeface="Roboto" pitchFamily="34" charset="-120"/>
                        </a:rPr>
                        <a:t>Gap in current practice</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960"/>
                        </a:lnSpc>
                        <a:buNone/>
                      </a:pPr>
                      <a:r>
                        <a:rPr lang="en-US" sz="1400" b="1" dirty="0">
                          <a:solidFill>
                            <a:srgbClr val="FBF8F9"/>
                          </a:solidFill>
                          <a:latin typeface="Roboto" pitchFamily="34" charset="0"/>
                          <a:ea typeface="Roboto" pitchFamily="34" charset="-122"/>
                          <a:cs typeface="Roboto" pitchFamily="34" charset="-120"/>
                        </a:rPr>
                        <a:t>How this project responds</a:t>
                      </a:r>
                      <a:endParaRPr lang="en-US" sz="1400" dirty="0">
                        <a:latin typeface="Roboto" charset="0"/>
                        <a:ea typeface="Roboto" charset="0"/>
                        <a:cs typeface="Roboto" charset="0"/>
                      </a:endParaRPr>
                    </a:p>
                  </a:txBody>
                  <a:tcPr marL="62230" marR="62230" marT="62230" marB="62230"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Points sit in separate programs</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One dashboard for balances and history</a:t>
                      </a:r>
                      <a:endParaRPr lang="en-US" sz="1400" dirty="0">
                        <a:latin typeface="Roboto" charset="0"/>
                        <a:ea typeface="Roboto" charset="0"/>
                        <a:cs typeface="Roboto" charset="0"/>
                      </a:endParaRPr>
                    </a:p>
                  </a:txBody>
                  <a:tcPr marL="62230" marR="62230" marT="62230" marB="6223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Values cannot be compared</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Normalization to a common rupee value</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Points expire unnoticed</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Expiry alerts, prioritized by urgency</a:t>
                      </a:r>
                      <a:endParaRPr lang="en-US" sz="1400" dirty="0">
                        <a:latin typeface="Roboto" charset="0"/>
                        <a:ea typeface="Roboto" charset="0"/>
                        <a:cs typeface="Roboto" charset="0"/>
                      </a:endParaRPr>
                    </a:p>
                  </a:txBody>
                  <a:tcPr marL="62230" marR="62230" marT="62230" marB="6223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384861">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Rewards are picked by hand</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960"/>
                        </a:lnSpc>
                        <a:buNone/>
                      </a:pPr>
                      <a:r>
                        <a:rPr lang="en-US" sz="1400" dirty="0">
                          <a:solidFill>
                            <a:srgbClr val="3A2F33"/>
                          </a:solidFill>
                          <a:latin typeface="Roboto" pitchFamily="34" charset="0"/>
                          <a:ea typeface="Roboto" pitchFamily="34" charset="-122"/>
                          <a:cs typeface="Roboto" pitchFamily="34" charset="-120"/>
                        </a:rPr>
                        <a:t>Explainable scoring plus a recommender</a:t>
                      </a:r>
                      <a:endParaRPr lang="en-US" sz="1400" dirty="0">
                        <a:latin typeface="Roboto" charset="0"/>
                        <a:ea typeface="Roboto" charset="0"/>
                        <a:cs typeface="Roboto" charset="0"/>
                      </a:endParaRPr>
                    </a:p>
                  </a:txBody>
                  <a:tcPr marL="62230" marR="62230" marT="62230" marB="6223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bl>
          </a:graphicData>
        </a:graphic>
      </p:graphicFrame>
      <p:sp>
        <p:nvSpPr>
          <p:cNvPr id="6" name="Text 3"/>
          <p:cNvSpPr/>
          <p:nvPr/>
        </p:nvSpPr>
        <p:spPr>
          <a:xfrm>
            <a:off x="812800" y="6238264"/>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7" name="Text 4"/>
          <p:cNvSpPr/>
          <p:nvPr/>
        </p:nvSpPr>
        <p:spPr>
          <a:xfrm>
            <a:off x="10058400" y="6238264"/>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03</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Objectives</a:t>
            </a:r>
            <a:endParaRPr lang="en-US" sz="3200" dirty="0"/>
          </a:p>
        </p:txBody>
      </p:sp>
      <p:sp>
        <p:nvSpPr>
          <p:cNvPr id="4" name="Shape 2"/>
          <p:cNvSpPr/>
          <p:nvPr/>
        </p:nvSpPr>
        <p:spPr>
          <a:xfrm>
            <a:off x="812800" y="1747478"/>
            <a:ext cx="10566400" cy="1134088"/>
          </a:xfrm>
          <a:prstGeom prst="roundRect">
            <a:avLst>
              <a:gd name="adj" fmla="val 8959"/>
            </a:avLst>
          </a:prstGeom>
          <a:solidFill>
            <a:srgbClr val="4B2839"/>
          </a:solidFill>
          <a:ln/>
        </p:spPr>
      </p:sp>
      <p:sp>
        <p:nvSpPr>
          <p:cNvPr id="5" name="Text 3"/>
          <p:cNvSpPr/>
          <p:nvPr/>
        </p:nvSpPr>
        <p:spPr>
          <a:xfrm>
            <a:off x="1041400" y="1925278"/>
            <a:ext cx="10412476"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D9C3CC"/>
                </a:solidFill>
                <a:latin typeface="Roboto" pitchFamily="34" charset="0"/>
                <a:ea typeface="Roboto" pitchFamily="34" charset="-122"/>
                <a:cs typeface="Roboto" pitchFamily="34" charset="-120"/>
              </a:rPr>
              <a:t>OVERALL OBJECTIVE</a:t>
            </a:r>
            <a:endParaRPr lang="en-US" sz="1200" dirty="0"/>
          </a:p>
        </p:txBody>
      </p:sp>
      <p:sp>
        <p:nvSpPr>
          <p:cNvPr id="6" name="Text 4"/>
          <p:cNvSpPr/>
          <p:nvPr/>
        </p:nvSpPr>
        <p:spPr>
          <a:xfrm>
            <a:off x="1041400" y="2189417"/>
            <a:ext cx="1041247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BF8F9"/>
                </a:solidFill>
                <a:latin typeface="Roboto" pitchFamily="34" charset="0"/>
                <a:ea typeface="Roboto" pitchFamily="34" charset="-122"/>
                <a:cs typeface="Roboto" pitchFamily="34" charset="-120"/>
              </a:rPr>
              <a:t>Build one platform that aggregates loyalty points from multiple programs, shows them in a single dashboard, alerts users before expiry and recommends the best rewards.</a:t>
            </a:r>
            <a:endParaRPr lang="en-US" sz="1500" dirty="0"/>
          </a:p>
        </p:txBody>
      </p:sp>
      <p:sp>
        <p:nvSpPr>
          <p:cNvPr id="7" name="Shape 5"/>
          <p:cNvSpPr/>
          <p:nvPr/>
        </p:nvSpPr>
        <p:spPr>
          <a:xfrm>
            <a:off x="815975" y="3087942"/>
            <a:ext cx="3414171" cy="1111539"/>
          </a:xfrm>
          <a:prstGeom prst="roundRect">
            <a:avLst>
              <a:gd name="adj" fmla="val 8855"/>
            </a:avLst>
          </a:prstGeom>
          <a:solidFill>
            <a:srgbClr val="F5EAEE"/>
          </a:solidFill>
          <a:ln w="6350">
            <a:solidFill>
              <a:srgbClr val="DEC8D0"/>
            </a:solidFill>
            <a:prstDash val="solid"/>
          </a:ln>
        </p:spPr>
      </p:sp>
      <p:sp>
        <p:nvSpPr>
          <p:cNvPr id="8" name="Text 6"/>
          <p:cNvSpPr/>
          <p:nvPr/>
        </p:nvSpPr>
        <p:spPr>
          <a:xfrm>
            <a:off x="995218" y="3267184"/>
            <a:ext cx="3147356"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B2839"/>
                </a:solidFill>
                <a:latin typeface="Roboto" pitchFamily="34" charset="0"/>
                <a:ea typeface="Roboto" pitchFamily="34" charset="-122"/>
                <a:cs typeface="Roboto" pitchFamily="34" charset="-120"/>
              </a:rPr>
              <a:t>1 · Single platform</a:t>
            </a:r>
            <a:endParaRPr lang="en-US" sz="1600" dirty="0"/>
          </a:p>
        </p:txBody>
      </p:sp>
      <p:sp>
        <p:nvSpPr>
          <p:cNvPr id="9" name="Text 7"/>
          <p:cNvSpPr/>
          <p:nvPr/>
        </p:nvSpPr>
        <p:spPr>
          <a:xfrm>
            <a:off x="995218" y="3574510"/>
            <a:ext cx="3147356" cy="4711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2F33"/>
                </a:solidFill>
                <a:latin typeface="Roboto" pitchFamily="34" charset="0"/>
                <a:ea typeface="Roboto" pitchFamily="34" charset="-122"/>
                <a:cs typeface="Roboto" pitchFamily="34" charset="-120"/>
              </a:rPr>
              <a:t>Manage points from multiple programs in one place.</a:t>
            </a:r>
            <a:endParaRPr lang="en-US" sz="1300" dirty="0"/>
          </a:p>
        </p:txBody>
      </p:sp>
      <p:sp>
        <p:nvSpPr>
          <p:cNvPr id="10" name="Shape 8"/>
          <p:cNvSpPr/>
          <p:nvPr/>
        </p:nvSpPr>
        <p:spPr>
          <a:xfrm>
            <a:off x="4388896" y="3087942"/>
            <a:ext cx="3414171" cy="1111539"/>
          </a:xfrm>
          <a:prstGeom prst="roundRect">
            <a:avLst>
              <a:gd name="adj" fmla="val 8855"/>
            </a:avLst>
          </a:prstGeom>
          <a:solidFill>
            <a:srgbClr val="F5EAEE"/>
          </a:solidFill>
          <a:ln w="6350">
            <a:solidFill>
              <a:srgbClr val="DEC8D0"/>
            </a:solidFill>
            <a:prstDash val="solid"/>
          </a:ln>
        </p:spPr>
      </p:sp>
      <p:sp>
        <p:nvSpPr>
          <p:cNvPr id="11" name="Text 9"/>
          <p:cNvSpPr/>
          <p:nvPr/>
        </p:nvSpPr>
        <p:spPr>
          <a:xfrm>
            <a:off x="4568140" y="3267184"/>
            <a:ext cx="3147356"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B2839"/>
                </a:solidFill>
                <a:latin typeface="Roboto" pitchFamily="34" charset="0"/>
                <a:ea typeface="Roboto" pitchFamily="34" charset="-122"/>
                <a:cs typeface="Roboto" pitchFamily="34" charset="-120"/>
              </a:rPr>
              <a:t>2 · One dashboard</a:t>
            </a:r>
            <a:endParaRPr lang="en-US" sz="1600" dirty="0"/>
          </a:p>
        </p:txBody>
      </p:sp>
      <p:sp>
        <p:nvSpPr>
          <p:cNvPr id="12" name="Text 10"/>
          <p:cNvSpPr/>
          <p:nvPr/>
        </p:nvSpPr>
        <p:spPr>
          <a:xfrm>
            <a:off x="4568140" y="3574510"/>
            <a:ext cx="3147356" cy="4711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2F33"/>
                </a:solidFill>
                <a:latin typeface="Roboto" pitchFamily="34" charset="0"/>
                <a:ea typeface="Roboto" pitchFamily="34" charset="-122"/>
                <a:cs typeface="Roboto" pitchFamily="34" charset="-120"/>
              </a:rPr>
              <a:t>Show balances and transaction history together.</a:t>
            </a:r>
            <a:endParaRPr lang="en-US" sz="1300" dirty="0"/>
          </a:p>
        </p:txBody>
      </p:sp>
      <p:sp>
        <p:nvSpPr>
          <p:cNvPr id="13" name="Shape 11"/>
          <p:cNvSpPr/>
          <p:nvPr/>
        </p:nvSpPr>
        <p:spPr>
          <a:xfrm>
            <a:off x="7961818" y="3087942"/>
            <a:ext cx="3414207" cy="1111539"/>
          </a:xfrm>
          <a:prstGeom prst="roundRect">
            <a:avLst>
              <a:gd name="adj" fmla="val 8855"/>
            </a:avLst>
          </a:prstGeom>
          <a:solidFill>
            <a:srgbClr val="F5EAEE"/>
          </a:solidFill>
          <a:ln w="6350">
            <a:solidFill>
              <a:srgbClr val="DEC8D0"/>
            </a:solidFill>
            <a:prstDash val="solid"/>
          </a:ln>
        </p:spPr>
      </p:sp>
      <p:sp>
        <p:nvSpPr>
          <p:cNvPr id="14" name="Text 12"/>
          <p:cNvSpPr/>
          <p:nvPr/>
        </p:nvSpPr>
        <p:spPr>
          <a:xfrm>
            <a:off x="8141061" y="3267184"/>
            <a:ext cx="3147393"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B2839"/>
                </a:solidFill>
                <a:latin typeface="Roboto" pitchFamily="34" charset="0"/>
                <a:ea typeface="Roboto" pitchFamily="34" charset="-122"/>
                <a:cs typeface="Roboto" pitchFamily="34" charset="-120"/>
              </a:rPr>
              <a:t>3 · Expiry alerts</a:t>
            </a:r>
            <a:endParaRPr lang="en-US" sz="1600" dirty="0"/>
          </a:p>
        </p:txBody>
      </p:sp>
      <p:sp>
        <p:nvSpPr>
          <p:cNvPr id="15" name="Text 13"/>
          <p:cNvSpPr/>
          <p:nvPr/>
        </p:nvSpPr>
        <p:spPr>
          <a:xfrm>
            <a:off x="8141061" y="3574510"/>
            <a:ext cx="3147393" cy="4711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2F33"/>
                </a:solidFill>
                <a:latin typeface="Roboto" pitchFamily="34" charset="0"/>
                <a:ea typeface="Roboto" pitchFamily="34" charset="-122"/>
                <a:cs typeface="Roboto" pitchFamily="34" charset="-120"/>
              </a:rPr>
              <a:t>Reduce lost rewards with notifications before expiry.</a:t>
            </a:r>
            <a:endParaRPr lang="en-US" sz="1300" dirty="0"/>
          </a:p>
        </p:txBody>
      </p:sp>
      <p:sp>
        <p:nvSpPr>
          <p:cNvPr id="16" name="Shape 14"/>
          <p:cNvSpPr/>
          <p:nvPr/>
        </p:nvSpPr>
        <p:spPr>
          <a:xfrm>
            <a:off x="815975" y="4358230"/>
            <a:ext cx="3414171" cy="1111539"/>
          </a:xfrm>
          <a:prstGeom prst="roundRect">
            <a:avLst>
              <a:gd name="adj" fmla="val 8855"/>
            </a:avLst>
          </a:prstGeom>
          <a:solidFill>
            <a:srgbClr val="F5EAEE"/>
          </a:solidFill>
          <a:ln w="6350">
            <a:solidFill>
              <a:srgbClr val="DEC8D0"/>
            </a:solidFill>
            <a:prstDash val="solid"/>
          </a:ln>
        </p:spPr>
      </p:sp>
      <p:sp>
        <p:nvSpPr>
          <p:cNvPr id="17" name="Text 15"/>
          <p:cNvSpPr/>
          <p:nvPr/>
        </p:nvSpPr>
        <p:spPr>
          <a:xfrm>
            <a:off x="995218" y="4537472"/>
            <a:ext cx="3147356"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B2839"/>
                </a:solidFill>
                <a:latin typeface="Roboto" pitchFamily="34" charset="0"/>
                <a:ea typeface="Roboto" pitchFamily="34" charset="-122"/>
                <a:cs typeface="Roboto" pitchFamily="34" charset="-120"/>
              </a:rPr>
              <a:t>4 · Comparable values</a:t>
            </a:r>
            <a:endParaRPr lang="en-US" sz="1600" dirty="0"/>
          </a:p>
        </p:txBody>
      </p:sp>
      <p:sp>
        <p:nvSpPr>
          <p:cNvPr id="18" name="Text 16"/>
          <p:cNvSpPr/>
          <p:nvPr/>
        </p:nvSpPr>
        <p:spPr>
          <a:xfrm>
            <a:off x="995218" y="4844799"/>
            <a:ext cx="3231753" cy="248263"/>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2F33"/>
                </a:solidFill>
                <a:latin typeface="Roboto" pitchFamily="34" charset="0"/>
                <a:ea typeface="Roboto" pitchFamily="34" charset="-122"/>
                <a:cs typeface="Roboto" pitchFamily="34" charset="-120"/>
              </a:rPr>
              <a:t>Normalize point values across programs.</a:t>
            </a:r>
            <a:endParaRPr lang="en-US" sz="1300" dirty="0"/>
          </a:p>
        </p:txBody>
      </p:sp>
      <p:sp>
        <p:nvSpPr>
          <p:cNvPr id="19" name="Shape 17"/>
          <p:cNvSpPr/>
          <p:nvPr/>
        </p:nvSpPr>
        <p:spPr>
          <a:xfrm>
            <a:off x="4388896" y="4358230"/>
            <a:ext cx="3414171" cy="1111539"/>
          </a:xfrm>
          <a:prstGeom prst="roundRect">
            <a:avLst>
              <a:gd name="adj" fmla="val 8855"/>
            </a:avLst>
          </a:prstGeom>
          <a:solidFill>
            <a:srgbClr val="F5EAEE"/>
          </a:solidFill>
          <a:ln w="6350">
            <a:solidFill>
              <a:srgbClr val="DEC8D0"/>
            </a:solidFill>
            <a:prstDash val="solid"/>
          </a:ln>
        </p:spPr>
      </p:sp>
      <p:sp>
        <p:nvSpPr>
          <p:cNvPr id="20" name="Text 18"/>
          <p:cNvSpPr/>
          <p:nvPr/>
        </p:nvSpPr>
        <p:spPr>
          <a:xfrm>
            <a:off x="4568140" y="4537472"/>
            <a:ext cx="3147356"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B2839"/>
                </a:solidFill>
                <a:latin typeface="Roboto" pitchFamily="34" charset="0"/>
                <a:ea typeface="Roboto" pitchFamily="34" charset="-122"/>
                <a:cs typeface="Roboto" pitchFamily="34" charset="-120"/>
              </a:rPr>
              <a:t>5 · Recommendations</a:t>
            </a:r>
            <a:endParaRPr lang="en-US" sz="1600" dirty="0"/>
          </a:p>
        </p:txBody>
      </p:sp>
      <p:sp>
        <p:nvSpPr>
          <p:cNvPr id="21" name="Text 19"/>
          <p:cNvSpPr/>
          <p:nvPr/>
        </p:nvSpPr>
        <p:spPr>
          <a:xfrm>
            <a:off x="4568140" y="4844799"/>
            <a:ext cx="3147356" cy="4711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2F33"/>
                </a:solidFill>
                <a:latin typeface="Roboto" pitchFamily="34" charset="0"/>
                <a:ea typeface="Roboto" pitchFamily="34" charset="-122"/>
                <a:cs typeface="Roboto" pitchFamily="34" charset="-120"/>
              </a:rPr>
              <a:t>Rank rewards by points, expiry and usage patterns.</a:t>
            </a:r>
            <a:endParaRPr lang="en-US" sz="1300" dirty="0"/>
          </a:p>
        </p:txBody>
      </p:sp>
      <p:sp>
        <p:nvSpPr>
          <p:cNvPr id="22" name="Shape 20"/>
          <p:cNvSpPr/>
          <p:nvPr/>
        </p:nvSpPr>
        <p:spPr>
          <a:xfrm>
            <a:off x="7961818" y="4358230"/>
            <a:ext cx="3414207" cy="1111539"/>
          </a:xfrm>
          <a:prstGeom prst="roundRect">
            <a:avLst>
              <a:gd name="adj" fmla="val 8855"/>
            </a:avLst>
          </a:prstGeom>
          <a:solidFill>
            <a:srgbClr val="F5EAEE"/>
          </a:solidFill>
          <a:ln w="6350">
            <a:solidFill>
              <a:srgbClr val="DEC8D0"/>
            </a:solidFill>
            <a:prstDash val="solid"/>
          </a:ln>
        </p:spPr>
      </p:sp>
      <p:sp>
        <p:nvSpPr>
          <p:cNvPr id="23" name="Text 21"/>
          <p:cNvSpPr/>
          <p:nvPr/>
        </p:nvSpPr>
        <p:spPr>
          <a:xfrm>
            <a:off x="8141061" y="4537472"/>
            <a:ext cx="3147393"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B2839"/>
                </a:solidFill>
                <a:latin typeface="Roboto" pitchFamily="34" charset="0"/>
                <a:ea typeface="Roboto" pitchFamily="34" charset="-122"/>
                <a:cs typeface="Roboto" pitchFamily="34" charset="-120"/>
              </a:rPr>
              <a:t>6 · Secure data</a:t>
            </a:r>
            <a:endParaRPr lang="en-US" sz="1600" dirty="0"/>
          </a:p>
        </p:txBody>
      </p:sp>
      <p:sp>
        <p:nvSpPr>
          <p:cNvPr id="24" name="Text 22"/>
          <p:cNvSpPr/>
          <p:nvPr/>
        </p:nvSpPr>
        <p:spPr>
          <a:xfrm>
            <a:off x="8141061" y="4844799"/>
            <a:ext cx="3147393" cy="248263"/>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2F33"/>
                </a:solidFill>
                <a:latin typeface="Roboto" pitchFamily="34" charset="0"/>
                <a:ea typeface="Roboto" pitchFamily="34" charset="-122"/>
                <a:cs typeface="Roboto" pitchFamily="34" charset="-120"/>
              </a:rPr>
              <a:t>Protect user and loyalty data end to end.</a:t>
            </a:r>
            <a:endParaRPr lang="en-US" sz="1300" dirty="0"/>
          </a:p>
        </p:txBody>
      </p:sp>
      <p:sp>
        <p:nvSpPr>
          <p:cNvPr id="25" name="Text 23"/>
          <p:cNvSpPr/>
          <p:nvPr/>
        </p:nvSpPr>
        <p:spPr>
          <a:xfrm>
            <a:off x="812800" y="6238264"/>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26" name="Text 24"/>
          <p:cNvSpPr/>
          <p:nvPr/>
        </p:nvSpPr>
        <p:spPr>
          <a:xfrm>
            <a:off x="10058400" y="6238264"/>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03</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Scope, Assumptions and Limits</a:t>
            </a:r>
            <a:endParaRPr lang="en-US" sz="3200" dirty="0"/>
          </a:p>
        </p:txBody>
      </p:sp>
      <p:sp>
        <p:nvSpPr>
          <p:cNvPr id="4" name="Shape 2"/>
          <p:cNvSpPr/>
          <p:nvPr/>
        </p:nvSpPr>
        <p:spPr>
          <a:xfrm>
            <a:off x="815975" y="1750653"/>
            <a:ext cx="3383395" cy="3039449"/>
          </a:xfrm>
          <a:prstGeom prst="roundRect">
            <a:avLst>
              <a:gd name="adj" fmla="val 3238"/>
            </a:avLst>
          </a:prstGeom>
          <a:solidFill>
            <a:srgbClr val="F5EAEE"/>
          </a:solidFill>
          <a:ln w="6350">
            <a:solidFill>
              <a:srgbClr val="DEC8D0"/>
            </a:solidFill>
            <a:prstDash val="solid"/>
          </a:ln>
        </p:spPr>
      </p:sp>
      <p:sp>
        <p:nvSpPr>
          <p:cNvPr id="5" name="Text 3"/>
          <p:cNvSpPr/>
          <p:nvPr/>
        </p:nvSpPr>
        <p:spPr>
          <a:xfrm>
            <a:off x="1046018" y="1980698"/>
            <a:ext cx="3011008" cy="299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B2839"/>
                </a:solidFill>
                <a:latin typeface="Roboto" pitchFamily="34" charset="0"/>
                <a:ea typeface="Roboto" pitchFamily="34" charset="-122"/>
                <a:cs typeface="Roboto" pitchFamily="34" charset="-120"/>
              </a:rPr>
              <a:t>In Scope</a:t>
            </a:r>
            <a:endParaRPr lang="en-US" sz="1800" dirty="0"/>
          </a:p>
        </p:txBody>
      </p:sp>
      <p:sp>
        <p:nvSpPr>
          <p:cNvPr id="6" name="Text 4"/>
          <p:cNvSpPr/>
          <p:nvPr/>
        </p:nvSpPr>
        <p:spPr>
          <a:xfrm>
            <a:off x="1150412" y="2331210"/>
            <a:ext cx="2898994" cy="2254250"/>
          </a:xfrm>
          <a:prstGeom prst="rect">
            <a:avLst/>
          </a:prstGeom>
          <a:noFill/>
          <a:ln/>
        </p:spPr>
        <p:txBody>
          <a:bodyPr wrap="square" lIns="0" tIns="0" rIns="0" bIns="0" rtlCol="0" anchor="t">
            <a:normAutofit/>
          </a:bodyPr>
          <a:lstStyle/>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User registration and login</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Linking accounts through simulated connectors</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Aggregation and normalization of balances and expiry dates</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Dashboard, expiry alerts, reward ranking</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Simulated redemption recorded in a ledger</a:t>
            </a:r>
            <a:endParaRPr lang="en-US" sz="1300" dirty="0"/>
          </a:p>
        </p:txBody>
      </p:sp>
      <p:sp>
        <p:nvSpPr>
          <p:cNvPr id="7" name="Shape 5"/>
          <p:cNvSpPr/>
          <p:nvPr/>
        </p:nvSpPr>
        <p:spPr>
          <a:xfrm>
            <a:off x="4408920" y="1750653"/>
            <a:ext cx="3383395" cy="3039449"/>
          </a:xfrm>
          <a:prstGeom prst="roundRect">
            <a:avLst>
              <a:gd name="adj" fmla="val 3238"/>
            </a:avLst>
          </a:prstGeom>
          <a:solidFill>
            <a:srgbClr val="F5EAEE"/>
          </a:solidFill>
          <a:ln w="6350">
            <a:solidFill>
              <a:srgbClr val="DEC8D0"/>
            </a:solidFill>
            <a:prstDash val="solid"/>
          </a:ln>
        </p:spPr>
      </p:sp>
      <p:sp>
        <p:nvSpPr>
          <p:cNvPr id="8" name="Text 6"/>
          <p:cNvSpPr/>
          <p:nvPr/>
        </p:nvSpPr>
        <p:spPr>
          <a:xfrm>
            <a:off x="4638964" y="1980698"/>
            <a:ext cx="3011008" cy="299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B2839"/>
                </a:solidFill>
                <a:latin typeface="Roboto" pitchFamily="34" charset="0"/>
                <a:ea typeface="Roboto" pitchFamily="34" charset="-122"/>
                <a:cs typeface="Roboto" pitchFamily="34" charset="-120"/>
              </a:rPr>
              <a:t>Out of Scope (Phase 1)</a:t>
            </a:r>
            <a:endParaRPr lang="en-US" sz="1800" dirty="0"/>
          </a:p>
        </p:txBody>
      </p:sp>
      <p:sp>
        <p:nvSpPr>
          <p:cNvPr id="9" name="Text 7"/>
          <p:cNvSpPr/>
          <p:nvPr/>
        </p:nvSpPr>
        <p:spPr>
          <a:xfrm>
            <a:off x="4743358" y="2331210"/>
            <a:ext cx="2898994" cy="1511300"/>
          </a:xfrm>
          <a:prstGeom prst="rect">
            <a:avLst/>
          </a:prstGeom>
          <a:noFill/>
          <a:ln/>
        </p:spPr>
        <p:txBody>
          <a:bodyPr wrap="square" lIns="0" tIns="0" rIns="0" bIns="0" rtlCol="0" anchor="t">
            <a:normAutofit/>
          </a:bodyPr>
          <a:lstStyle/>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Real integrations with commercial brands</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Real transfer or conversion of points between brands</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Real-money payments (gateway in test mode only, if used)</a:t>
            </a:r>
            <a:endParaRPr lang="en-US" sz="1300" dirty="0"/>
          </a:p>
        </p:txBody>
      </p:sp>
      <p:sp>
        <p:nvSpPr>
          <p:cNvPr id="10" name="Shape 8"/>
          <p:cNvSpPr/>
          <p:nvPr/>
        </p:nvSpPr>
        <p:spPr>
          <a:xfrm>
            <a:off x="7998691" y="1747478"/>
            <a:ext cx="3380509" cy="3045799"/>
          </a:xfrm>
          <a:prstGeom prst="roundRect">
            <a:avLst>
              <a:gd name="adj" fmla="val 3336"/>
            </a:avLst>
          </a:prstGeom>
          <a:solidFill>
            <a:srgbClr val="4B2839"/>
          </a:solidFill>
          <a:ln/>
        </p:spPr>
      </p:sp>
      <p:sp>
        <p:nvSpPr>
          <p:cNvPr id="11" name="Text 9"/>
          <p:cNvSpPr/>
          <p:nvPr/>
        </p:nvSpPr>
        <p:spPr>
          <a:xfrm>
            <a:off x="8227291" y="2460123"/>
            <a:ext cx="3011008" cy="299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BF8F9"/>
                </a:solidFill>
                <a:latin typeface="Roboto" pitchFamily="34" charset="0"/>
                <a:ea typeface="Roboto" pitchFamily="34" charset="-122"/>
                <a:cs typeface="Roboto" pitchFamily="34" charset="-120"/>
              </a:rPr>
              <a:t>Key Assumption</a:t>
            </a:r>
            <a:endParaRPr lang="en-US" sz="1800" dirty="0"/>
          </a:p>
        </p:txBody>
      </p:sp>
      <p:sp>
        <p:nvSpPr>
          <p:cNvPr id="12" name="Text 10"/>
          <p:cNvSpPr/>
          <p:nvPr/>
        </p:nvSpPr>
        <p:spPr>
          <a:xfrm>
            <a:off x="8227291" y="2836035"/>
            <a:ext cx="3011008" cy="126996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BF8F9"/>
                </a:solidFill>
                <a:latin typeface="Roboto" pitchFamily="34" charset="0"/>
                <a:ea typeface="Roboto" pitchFamily="34" charset="-122"/>
                <a:cs typeface="Roboto" pitchFamily="34" charset="-120"/>
              </a:rPr>
              <a:t>Partner loyalty APIs are simulated. Each program is a plug-in connector, so a real API can replace a mock one without changing the rest of the system.</a:t>
            </a:r>
            <a:endParaRPr lang="en-US" sz="1400" dirty="0"/>
          </a:p>
        </p:txBody>
      </p:sp>
      <p:sp>
        <p:nvSpPr>
          <p:cNvPr id="13" name="Text 11"/>
          <p:cNvSpPr/>
          <p:nvPr/>
        </p:nvSpPr>
        <p:spPr>
          <a:xfrm>
            <a:off x="812800" y="6238261"/>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14" name="Text 12"/>
          <p:cNvSpPr/>
          <p:nvPr/>
        </p:nvSpPr>
        <p:spPr>
          <a:xfrm>
            <a:off x="10058400" y="6238261"/>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04</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System Requirements</a:t>
            </a:r>
            <a:endParaRPr lang="en-US" sz="3200" dirty="0"/>
          </a:p>
        </p:txBody>
      </p:sp>
      <p:sp>
        <p:nvSpPr>
          <p:cNvPr id="4" name="Shape 2"/>
          <p:cNvSpPr/>
          <p:nvPr/>
        </p:nvSpPr>
        <p:spPr>
          <a:xfrm>
            <a:off x="815975" y="1750653"/>
            <a:ext cx="5200650" cy="1487488"/>
          </a:xfrm>
          <a:prstGeom prst="roundRect">
            <a:avLst>
              <a:gd name="adj" fmla="val 6617"/>
            </a:avLst>
          </a:prstGeom>
          <a:solidFill>
            <a:srgbClr val="F5EAEE"/>
          </a:solidFill>
          <a:ln w="6350">
            <a:solidFill>
              <a:srgbClr val="DEC8D0"/>
            </a:solidFill>
            <a:prstDash val="solid"/>
          </a:ln>
        </p:spPr>
      </p:sp>
      <p:sp>
        <p:nvSpPr>
          <p:cNvPr id="5" name="Text 3"/>
          <p:cNvSpPr/>
          <p:nvPr/>
        </p:nvSpPr>
        <p:spPr>
          <a:xfrm>
            <a:off x="1020618" y="1955298"/>
            <a:ext cx="4935105"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4B2839"/>
                </a:solidFill>
                <a:latin typeface="Roboto" pitchFamily="34" charset="0"/>
                <a:ea typeface="Roboto" pitchFamily="34" charset="-122"/>
                <a:cs typeface="Roboto" pitchFamily="34" charset="-120"/>
              </a:rPr>
              <a:t>Dataset / Test Data</a:t>
            </a:r>
            <a:endParaRPr lang="en-US" sz="1700" dirty="0"/>
          </a:p>
        </p:txBody>
      </p:sp>
      <p:sp>
        <p:nvSpPr>
          <p:cNvPr id="6" name="Text 4"/>
          <p:cNvSpPr/>
          <p:nvPr/>
        </p:nvSpPr>
        <p:spPr>
          <a:xfrm>
            <a:off x="1125012" y="2290545"/>
            <a:ext cx="4823091" cy="768350"/>
          </a:xfrm>
          <a:prstGeom prst="rect">
            <a:avLst/>
          </a:prstGeom>
          <a:noFill/>
          <a:ln/>
        </p:spPr>
        <p:txBody>
          <a:bodyPr wrap="square" lIns="0" tIns="0" rIns="0" bIns="0" rtlCol="0" anchor="t">
            <a:normAutofit/>
          </a:bodyPr>
          <a:lstStyle/>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Synthetic users, rewards and redemptions</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Simulated Retail, Food and Travel APIs</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Hit@3 checked against two baselines</a:t>
            </a:r>
            <a:endParaRPr lang="en-US" sz="1300" dirty="0"/>
          </a:p>
        </p:txBody>
      </p:sp>
      <p:sp>
        <p:nvSpPr>
          <p:cNvPr id="7" name="Shape 5"/>
          <p:cNvSpPr/>
          <p:nvPr/>
        </p:nvSpPr>
        <p:spPr>
          <a:xfrm>
            <a:off x="6175375" y="1750653"/>
            <a:ext cx="5200650" cy="1487488"/>
          </a:xfrm>
          <a:prstGeom prst="roundRect">
            <a:avLst>
              <a:gd name="adj" fmla="val 6617"/>
            </a:avLst>
          </a:prstGeom>
          <a:solidFill>
            <a:srgbClr val="F5EAEE"/>
          </a:solidFill>
          <a:ln w="6350">
            <a:solidFill>
              <a:srgbClr val="DEC8D0"/>
            </a:solidFill>
            <a:prstDash val="solid"/>
          </a:ln>
        </p:spPr>
      </p:sp>
      <p:sp>
        <p:nvSpPr>
          <p:cNvPr id="8" name="Text 6"/>
          <p:cNvSpPr/>
          <p:nvPr/>
        </p:nvSpPr>
        <p:spPr>
          <a:xfrm>
            <a:off x="6380018" y="1955298"/>
            <a:ext cx="4935105"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4B2839"/>
                </a:solidFill>
                <a:latin typeface="Roboto" pitchFamily="34" charset="0"/>
                <a:ea typeface="Roboto" pitchFamily="34" charset="-122"/>
                <a:cs typeface="Roboto" pitchFamily="34" charset="-120"/>
              </a:rPr>
              <a:t>Hosting and Deployment</a:t>
            </a:r>
            <a:endParaRPr lang="en-US" sz="1700" dirty="0"/>
          </a:p>
        </p:txBody>
      </p:sp>
      <p:sp>
        <p:nvSpPr>
          <p:cNvPr id="9" name="Text 7"/>
          <p:cNvSpPr/>
          <p:nvPr/>
        </p:nvSpPr>
        <p:spPr>
          <a:xfrm>
            <a:off x="6484412" y="2290545"/>
            <a:ext cx="4823091" cy="768350"/>
          </a:xfrm>
          <a:prstGeom prst="rect">
            <a:avLst/>
          </a:prstGeom>
          <a:noFill/>
          <a:ln/>
        </p:spPr>
        <p:txBody>
          <a:bodyPr wrap="square" lIns="0" tIns="0" rIns="0" bIns="0" rtlCol="0" anchor="t">
            <a:normAutofit/>
          </a:bodyPr>
          <a:lstStyle/>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Docker for consistent packaging</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AWS or Azure for hosting</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PostgreSQL database, Redis cache and queue</a:t>
            </a:r>
            <a:endParaRPr lang="en-US" sz="1300" dirty="0"/>
          </a:p>
        </p:txBody>
      </p:sp>
      <p:sp>
        <p:nvSpPr>
          <p:cNvPr id="10" name="Shape 8"/>
          <p:cNvSpPr/>
          <p:nvPr/>
        </p:nvSpPr>
        <p:spPr>
          <a:xfrm>
            <a:off x="815975" y="3396890"/>
            <a:ext cx="5200650" cy="1487488"/>
          </a:xfrm>
          <a:prstGeom prst="roundRect">
            <a:avLst>
              <a:gd name="adj" fmla="val 6617"/>
            </a:avLst>
          </a:prstGeom>
          <a:solidFill>
            <a:srgbClr val="F5EAEE"/>
          </a:solidFill>
          <a:ln w="6350">
            <a:solidFill>
              <a:srgbClr val="DEC8D0"/>
            </a:solidFill>
            <a:prstDash val="solid"/>
          </a:ln>
        </p:spPr>
      </p:sp>
      <p:sp>
        <p:nvSpPr>
          <p:cNvPr id="11" name="Text 9"/>
          <p:cNvSpPr/>
          <p:nvPr/>
        </p:nvSpPr>
        <p:spPr>
          <a:xfrm>
            <a:off x="1020618" y="3601535"/>
            <a:ext cx="4935105"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4B2839"/>
                </a:solidFill>
                <a:latin typeface="Roboto" pitchFamily="34" charset="0"/>
                <a:ea typeface="Roboto" pitchFamily="34" charset="-122"/>
                <a:cs typeface="Roboto" pitchFamily="34" charset="-120"/>
              </a:rPr>
              <a:t>Software and Tools</a:t>
            </a:r>
            <a:endParaRPr lang="en-US" sz="1700" dirty="0"/>
          </a:p>
        </p:txBody>
      </p:sp>
      <p:sp>
        <p:nvSpPr>
          <p:cNvPr id="12" name="Text 10"/>
          <p:cNvSpPr/>
          <p:nvPr/>
        </p:nvSpPr>
        <p:spPr>
          <a:xfrm>
            <a:off x="1125012" y="3936783"/>
            <a:ext cx="4823091" cy="768350"/>
          </a:xfrm>
          <a:prstGeom prst="rect">
            <a:avLst/>
          </a:prstGeom>
          <a:noFill/>
          <a:ln/>
        </p:spPr>
        <p:txBody>
          <a:bodyPr wrap="square" lIns="0" tIns="0" rIns="0" bIns="0" rtlCol="0" anchor="t">
            <a:normAutofit/>
          </a:bodyPr>
          <a:lstStyle/>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Git and GitHub for version control</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Postman and pytest for API testing</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Figma for interface design</a:t>
            </a:r>
            <a:endParaRPr lang="en-US" sz="1300" dirty="0"/>
          </a:p>
        </p:txBody>
      </p:sp>
      <p:sp>
        <p:nvSpPr>
          <p:cNvPr id="13" name="Shape 11"/>
          <p:cNvSpPr/>
          <p:nvPr/>
        </p:nvSpPr>
        <p:spPr>
          <a:xfrm>
            <a:off x="6175375" y="3396890"/>
            <a:ext cx="5200650" cy="1487488"/>
          </a:xfrm>
          <a:prstGeom prst="roundRect">
            <a:avLst>
              <a:gd name="adj" fmla="val 6617"/>
            </a:avLst>
          </a:prstGeom>
          <a:solidFill>
            <a:srgbClr val="F5EAEE"/>
          </a:solidFill>
          <a:ln w="6350">
            <a:solidFill>
              <a:srgbClr val="DEC8D0"/>
            </a:solidFill>
            <a:prstDash val="solid"/>
          </a:ln>
        </p:spPr>
      </p:sp>
      <p:sp>
        <p:nvSpPr>
          <p:cNvPr id="14" name="Text 12"/>
          <p:cNvSpPr/>
          <p:nvPr/>
        </p:nvSpPr>
        <p:spPr>
          <a:xfrm>
            <a:off x="6380018" y="3601535"/>
            <a:ext cx="4935105"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4B2839"/>
                </a:solidFill>
                <a:latin typeface="Roboto" pitchFamily="34" charset="0"/>
                <a:ea typeface="Roboto" pitchFamily="34" charset="-122"/>
                <a:cs typeface="Roboto" pitchFamily="34" charset="-120"/>
              </a:rPr>
              <a:t>Language, Frameworks, Libraries</a:t>
            </a:r>
            <a:endParaRPr lang="en-US" sz="1700" dirty="0"/>
          </a:p>
        </p:txBody>
      </p:sp>
      <p:sp>
        <p:nvSpPr>
          <p:cNvPr id="15" name="Text 13"/>
          <p:cNvSpPr/>
          <p:nvPr/>
        </p:nvSpPr>
        <p:spPr>
          <a:xfrm>
            <a:off x="6484412" y="3936783"/>
            <a:ext cx="4823091" cy="768350"/>
          </a:xfrm>
          <a:prstGeom prst="rect">
            <a:avLst/>
          </a:prstGeom>
          <a:noFill/>
          <a:ln/>
        </p:spPr>
        <p:txBody>
          <a:bodyPr wrap="square" lIns="0" tIns="0" rIns="0" bIns="0" rtlCol="0" anchor="t">
            <a:normAutofit/>
          </a:bodyPr>
          <a:lstStyle/>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Python with FastAPI backend</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React or Flutter client</a:t>
            </a:r>
            <a:endParaRPr lang="en-US" sz="1300" dirty="0"/>
          </a:p>
          <a:p>
            <a:pPr algn="l" marL="149606" indent="-149606">
              <a:lnSpc>
                <a:spcPts val="1950"/>
              </a:lnSpc>
              <a:buSzPct val="100000"/>
              <a:buChar char="•"/>
            </a:pPr>
            <a:r>
              <a:rPr lang="en-US" sz="1300" dirty="0">
                <a:solidFill>
                  <a:srgbClr val="3A2F33"/>
                </a:solidFill>
                <a:latin typeface="Roboto" pitchFamily="34" charset="0"/>
                <a:ea typeface="Roboto" pitchFamily="34" charset="-122"/>
                <a:cs typeface="Roboto" pitchFamily="34" charset="-120"/>
              </a:rPr>
              <a:t>numpy, JWT, bcrypt or argon2</a:t>
            </a:r>
            <a:endParaRPr lang="en-US" sz="1300" dirty="0"/>
          </a:p>
        </p:txBody>
      </p:sp>
      <p:sp>
        <p:nvSpPr>
          <p:cNvPr id="16" name="Text 14"/>
          <p:cNvSpPr/>
          <p:nvPr/>
        </p:nvSpPr>
        <p:spPr>
          <a:xfrm>
            <a:off x="812800" y="6238261"/>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17" name="Text 15"/>
          <p:cNvSpPr/>
          <p:nvPr/>
        </p:nvSpPr>
        <p:spPr>
          <a:xfrm>
            <a:off x="10058400" y="6238261"/>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05</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System Architecture</a:t>
            </a:r>
            <a:endParaRPr lang="en-US" sz="3200" dirty="0"/>
          </a:p>
        </p:txBody>
      </p:sp>
      <p:sp>
        <p:nvSpPr>
          <p:cNvPr id="4" name="Shape 2"/>
          <p:cNvSpPr/>
          <p:nvPr/>
        </p:nvSpPr>
        <p:spPr>
          <a:xfrm>
            <a:off x="2492375" y="1623653"/>
            <a:ext cx="3295650" cy="592138"/>
          </a:xfrm>
          <a:prstGeom prst="roundRect">
            <a:avLst>
              <a:gd name="adj" fmla="val 12332"/>
            </a:avLst>
          </a:prstGeom>
          <a:solidFill>
            <a:srgbClr val="E8E4E6"/>
          </a:solidFill>
          <a:ln w="6350">
            <a:solidFill>
              <a:srgbClr val="CFC8CB"/>
            </a:solidFill>
            <a:prstDash val="solid"/>
          </a:ln>
        </p:spPr>
      </p:sp>
      <p:sp>
        <p:nvSpPr>
          <p:cNvPr id="5" name="Text 3"/>
          <p:cNvSpPr/>
          <p:nvPr/>
        </p:nvSpPr>
        <p:spPr>
          <a:xfrm>
            <a:off x="2575237" y="1713998"/>
            <a:ext cx="3129927"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3A2F33"/>
                </a:solidFill>
                <a:latin typeface="Roboto" pitchFamily="34" charset="0"/>
                <a:ea typeface="Roboto" pitchFamily="34" charset="-122"/>
                <a:cs typeface="Roboto" pitchFamily="34" charset="-120"/>
              </a:rPr>
              <a:t>Client app</a:t>
            </a:r>
            <a:endParaRPr lang="en-US" sz="1400" dirty="0"/>
          </a:p>
        </p:txBody>
      </p:sp>
      <p:sp>
        <p:nvSpPr>
          <p:cNvPr id="6" name="Text 4"/>
          <p:cNvSpPr/>
          <p:nvPr/>
        </p:nvSpPr>
        <p:spPr>
          <a:xfrm>
            <a:off x="2575237" y="1927337"/>
            <a:ext cx="3129927"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3F44"/>
                </a:solidFill>
                <a:latin typeface="Roboto" pitchFamily="34" charset="0"/>
                <a:ea typeface="Roboto" pitchFamily="34" charset="-122"/>
                <a:cs typeface="Roboto" pitchFamily="34" charset="-120"/>
              </a:rPr>
              <a:t>React or Flutter, REST only</a:t>
            </a:r>
            <a:endParaRPr lang="en-US" sz="1200" dirty="0"/>
          </a:p>
        </p:txBody>
      </p:sp>
      <p:pic>
        <p:nvPicPr>
          <p:cNvPr id="7" name="Image 0" descr="arrow-right">    </p:cNvPr>
          <p:cNvPicPr>
            <a:picLocks noChangeAspect="1"/>
          </p:cNvPicPr>
          <p:nvPr/>
        </p:nvPicPr>
        <p:blipFill>
          <a:blip r:embed="rId1"/>
          <a:srcRect l="0" r="0" t="0" b="0"/>
          <a:stretch/>
        </p:blipFill>
        <p:spPr>
          <a:xfrm>
            <a:off x="5892800" y="1818122"/>
            <a:ext cx="406400" cy="203200"/>
          </a:xfrm>
          <a:prstGeom prst="rect">
            <a:avLst/>
          </a:prstGeom>
        </p:spPr>
      </p:pic>
      <p:sp>
        <p:nvSpPr>
          <p:cNvPr id="8" name="Shape 5"/>
          <p:cNvSpPr/>
          <p:nvPr/>
        </p:nvSpPr>
        <p:spPr>
          <a:xfrm>
            <a:off x="6403975" y="1623653"/>
            <a:ext cx="3295650" cy="592138"/>
          </a:xfrm>
          <a:prstGeom prst="roundRect">
            <a:avLst>
              <a:gd name="adj" fmla="val 12332"/>
            </a:avLst>
          </a:prstGeom>
          <a:solidFill>
            <a:srgbClr val="E8E4E6"/>
          </a:solidFill>
          <a:ln w="6350">
            <a:solidFill>
              <a:srgbClr val="CFC8CB"/>
            </a:solidFill>
            <a:prstDash val="solid"/>
          </a:ln>
        </p:spPr>
      </p:sp>
      <p:sp>
        <p:nvSpPr>
          <p:cNvPr id="9" name="Text 6"/>
          <p:cNvSpPr/>
          <p:nvPr/>
        </p:nvSpPr>
        <p:spPr>
          <a:xfrm>
            <a:off x="6486837" y="1713998"/>
            <a:ext cx="3129927"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3A2F33"/>
                </a:solidFill>
                <a:latin typeface="Roboto" pitchFamily="34" charset="0"/>
                <a:ea typeface="Roboto" pitchFamily="34" charset="-122"/>
                <a:cs typeface="Roboto" pitchFamily="34" charset="-120"/>
              </a:rPr>
              <a:t>API gateway</a:t>
            </a:r>
            <a:endParaRPr lang="en-US" sz="1400" dirty="0"/>
          </a:p>
        </p:txBody>
      </p:sp>
      <p:sp>
        <p:nvSpPr>
          <p:cNvPr id="10" name="Text 7"/>
          <p:cNvSpPr/>
          <p:nvPr/>
        </p:nvSpPr>
        <p:spPr>
          <a:xfrm>
            <a:off x="6486837" y="1927337"/>
            <a:ext cx="3129927"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3F44"/>
                </a:solidFill>
                <a:latin typeface="Roboto" pitchFamily="34" charset="0"/>
                <a:ea typeface="Roboto" pitchFamily="34" charset="-122"/>
                <a:cs typeface="Roboto" pitchFamily="34" charset="-120"/>
              </a:rPr>
              <a:t>auth, rate limit, routing</a:t>
            </a:r>
            <a:endParaRPr lang="en-US" sz="1200" dirty="0"/>
          </a:p>
        </p:txBody>
      </p:sp>
      <p:pic>
        <p:nvPicPr>
          <p:cNvPr id="11" name="Image 1" descr="arrow-down">    </p:cNvPr>
          <p:cNvPicPr>
            <a:picLocks noChangeAspect="1"/>
          </p:cNvPicPr>
          <p:nvPr/>
        </p:nvPicPr>
        <p:blipFill>
          <a:blip r:embed="rId2"/>
          <a:srcRect l="0" r="0" t="0" b="0"/>
          <a:stretch/>
        </p:blipFill>
        <p:spPr>
          <a:xfrm>
            <a:off x="3896663" y="2295165"/>
            <a:ext cx="203200" cy="228600"/>
          </a:xfrm>
          <a:prstGeom prst="rect">
            <a:avLst/>
          </a:prstGeom>
        </p:spPr>
      </p:pic>
      <p:sp>
        <p:nvSpPr>
          <p:cNvPr id="12" name="Text 8"/>
          <p:cNvSpPr/>
          <p:nvPr/>
        </p:nvSpPr>
        <p:spPr>
          <a:xfrm>
            <a:off x="4201463" y="2302780"/>
            <a:ext cx="4912605"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REST/JSON over HTTPS; the response returns the same way</a:t>
            </a:r>
            <a:endParaRPr lang="en-US" sz="1200" dirty="0"/>
          </a:p>
        </p:txBody>
      </p:sp>
      <p:sp>
        <p:nvSpPr>
          <p:cNvPr id="13" name="Shape 9"/>
          <p:cNvSpPr/>
          <p:nvPr/>
        </p:nvSpPr>
        <p:spPr>
          <a:xfrm>
            <a:off x="819150" y="2606315"/>
            <a:ext cx="10553700" cy="1026355"/>
          </a:xfrm>
          <a:prstGeom prst="roundRect">
            <a:avLst>
              <a:gd name="adj" fmla="val 9280"/>
            </a:avLst>
          </a:prstGeom>
          <a:solidFill>
            <a:srgbClr val="F5EAEE"/>
          </a:solidFill>
          <a:ln w="12700">
            <a:solidFill>
              <a:srgbClr val="8B5068"/>
            </a:solidFill>
            <a:prstDash val="dash"/>
          </a:ln>
        </p:spPr>
      </p:sp>
      <p:sp>
        <p:nvSpPr>
          <p:cNvPr id="14" name="Text 10"/>
          <p:cNvSpPr/>
          <p:nvPr/>
        </p:nvSpPr>
        <p:spPr>
          <a:xfrm>
            <a:off x="951346" y="2700412"/>
            <a:ext cx="10597988" cy="22351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B5068"/>
                </a:solidFill>
                <a:latin typeface="Roboto" pitchFamily="34" charset="0"/>
                <a:ea typeface="Roboto" pitchFamily="34" charset="-122"/>
                <a:cs typeface="Roboto" pitchFamily="34" charset="-120"/>
              </a:rPr>
              <a:t>FastAPI modular monolith</a:t>
            </a:r>
            <a:endParaRPr lang="en-US" sz="1200" dirty="0"/>
          </a:p>
        </p:txBody>
      </p:sp>
      <p:sp>
        <p:nvSpPr>
          <p:cNvPr id="15" name="Shape 11"/>
          <p:cNvSpPr/>
          <p:nvPr/>
        </p:nvSpPr>
        <p:spPr>
          <a:xfrm>
            <a:off x="951346" y="2949327"/>
            <a:ext cx="1996895" cy="589251"/>
          </a:xfrm>
          <a:prstGeom prst="roundRect">
            <a:avLst>
              <a:gd name="adj" fmla="val 12932"/>
            </a:avLst>
          </a:prstGeom>
          <a:solidFill>
            <a:srgbClr val="6B3D52"/>
          </a:solidFill>
          <a:ln/>
        </p:spPr>
      </p:sp>
      <p:sp>
        <p:nvSpPr>
          <p:cNvPr id="16" name="Text 12"/>
          <p:cNvSpPr/>
          <p:nvPr/>
        </p:nvSpPr>
        <p:spPr>
          <a:xfrm>
            <a:off x="999878" y="3038227"/>
            <a:ext cx="1899829"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BF8F9"/>
                </a:solidFill>
                <a:latin typeface="Roboto" pitchFamily="34" charset="0"/>
                <a:ea typeface="Roboto" pitchFamily="34" charset="-122"/>
                <a:cs typeface="Roboto" pitchFamily="34" charset="-120"/>
              </a:rPr>
              <a:t>Auth</a:t>
            </a:r>
            <a:endParaRPr lang="en-US" sz="1400" dirty="0"/>
          </a:p>
        </p:txBody>
      </p:sp>
      <p:sp>
        <p:nvSpPr>
          <p:cNvPr id="17" name="Text 13"/>
          <p:cNvSpPr/>
          <p:nvPr/>
        </p:nvSpPr>
        <p:spPr>
          <a:xfrm>
            <a:off x="999878" y="3251560"/>
            <a:ext cx="1899829"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BDDE2"/>
                </a:solidFill>
                <a:latin typeface="Roboto" pitchFamily="34" charset="0"/>
                <a:ea typeface="Roboto" pitchFamily="34" charset="-122"/>
                <a:cs typeface="Roboto" pitchFamily="34" charset="-120"/>
              </a:rPr>
              <a:t>login, JWT</a:t>
            </a:r>
            <a:endParaRPr lang="en-US" sz="1200" dirty="0"/>
          </a:p>
        </p:txBody>
      </p:sp>
      <p:sp>
        <p:nvSpPr>
          <p:cNvPr id="18" name="Shape 14"/>
          <p:cNvSpPr/>
          <p:nvPr/>
        </p:nvSpPr>
        <p:spPr>
          <a:xfrm>
            <a:off x="3024440" y="2949327"/>
            <a:ext cx="1996931" cy="589251"/>
          </a:xfrm>
          <a:prstGeom prst="roundRect">
            <a:avLst>
              <a:gd name="adj" fmla="val 12932"/>
            </a:avLst>
          </a:prstGeom>
          <a:solidFill>
            <a:srgbClr val="6B3D52"/>
          </a:solidFill>
          <a:ln/>
        </p:spPr>
      </p:sp>
      <p:sp>
        <p:nvSpPr>
          <p:cNvPr id="19" name="Text 15"/>
          <p:cNvSpPr/>
          <p:nvPr/>
        </p:nvSpPr>
        <p:spPr>
          <a:xfrm>
            <a:off x="3072972" y="3038227"/>
            <a:ext cx="1899867"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BF8F9"/>
                </a:solidFill>
                <a:latin typeface="Roboto" pitchFamily="34" charset="0"/>
                <a:ea typeface="Roboto" pitchFamily="34" charset="-122"/>
                <a:cs typeface="Roboto" pitchFamily="34" charset="-120"/>
              </a:rPr>
              <a:t>Accounts</a:t>
            </a:r>
            <a:endParaRPr lang="en-US" sz="1400" dirty="0"/>
          </a:p>
        </p:txBody>
      </p:sp>
      <p:sp>
        <p:nvSpPr>
          <p:cNvPr id="20" name="Text 16"/>
          <p:cNvSpPr/>
          <p:nvPr/>
        </p:nvSpPr>
        <p:spPr>
          <a:xfrm>
            <a:off x="3072972" y="3251560"/>
            <a:ext cx="1899867"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BDDE2"/>
                </a:solidFill>
                <a:latin typeface="Roboto" pitchFamily="34" charset="0"/>
                <a:ea typeface="Roboto" pitchFamily="34" charset="-122"/>
                <a:cs typeface="Roboto" pitchFamily="34" charset="-120"/>
              </a:rPr>
              <a:t>link, tokens</a:t>
            </a:r>
            <a:endParaRPr lang="en-US" sz="1200" dirty="0"/>
          </a:p>
        </p:txBody>
      </p:sp>
      <p:sp>
        <p:nvSpPr>
          <p:cNvPr id="21" name="Shape 17"/>
          <p:cNvSpPr/>
          <p:nvPr/>
        </p:nvSpPr>
        <p:spPr>
          <a:xfrm>
            <a:off x="5097571" y="2949327"/>
            <a:ext cx="1996895" cy="589251"/>
          </a:xfrm>
          <a:prstGeom prst="roundRect">
            <a:avLst>
              <a:gd name="adj" fmla="val 12932"/>
            </a:avLst>
          </a:prstGeom>
          <a:solidFill>
            <a:srgbClr val="6B3D52"/>
          </a:solidFill>
          <a:ln/>
        </p:spPr>
      </p:sp>
      <p:sp>
        <p:nvSpPr>
          <p:cNvPr id="22" name="Text 18"/>
          <p:cNvSpPr/>
          <p:nvPr/>
        </p:nvSpPr>
        <p:spPr>
          <a:xfrm>
            <a:off x="5146104" y="3038227"/>
            <a:ext cx="1899829"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BF8F9"/>
                </a:solidFill>
                <a:latin typeface="Roboto" pitchFamily="34" charset="0"/>
                <a:ea typeface="Roboto" pitchFamily="34" charset="-122"/>
                <a:cs typeface="Roboto" pitchFamily="34" charset="-120"/>
              </a:rPr>
              <a:t>Wallet</a:t>
            </a:r>
            <a:endParaRPr lang="en-US" sz="1400" dirty="0"/>
          </a:p>
        </p:txBody>
      </p:sp>
      <p:sp>
        <p:nvSpPr>
          <p:cNvPr id="23" name="Text 19"/>
          <p:cNvSpPr/>
          <p:nvPr/>
        </p:nvSpPr>
        <p:spPr>
          <a:xfrm>
            <a:off x="5146104" y="3251560"/>
            <a:ext cx="1899829"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BDDE2"/>
                </a:solidFill>
                <a:latin typeface="Roboto" pitchFamily="34" charset="0"/>
                <a:ea typeface="Roboto" pitchFamily="34" charset="-122"/>
                <a:cs typeface="Roboto" pitchFamily="34" charset="-120"/>
              </a:rPr>
              <a:t>balances, ledger</a:t>
            </a:r>
            <a:endParaRPr lang="en-US" sz="1200" dirty="0"/>
          </a:p>
        </p:txBody>
      </p:sp>
      <p:sp>
        <p:nvSpPr>
          <p:cNvPr id="24" name="Shape 20"/>
          <p:cNvSpPr/>
          <p:nvPr/>
        </p:nvSpPr>
        <p:spPr>
          <a:xfrm>
            <a:off x="7170665" y="2949327"/>
            <a:ext cx="1996895" cy="589251"/>
          </a:xfrm>
          <a:prstGeom prst="roundRect">
            <a:avLst>
              <a:gd name="adj" fmla="val 12932"/>
            </a:avLst>
          </a:prstGeom>
          <a:solidFill>
            <a:srgbClr val="6B3D52"/>
          </a:solidFill>
          <a:ln/>
        </p:spPr>
      </p:sp>
      <p:sp>
        <p:nvSpPr>
          <p:cNvPr id="25" name="Text 21"/>
          <p:cNvSpPr/>
          <p:nvPr/>
        </p:nvSpPr>
        <p:spPr>
          <a:xfrm>
            <a:off x="7219198" y="3038227"/>
            <a:ext cx="1899829"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BF8F9"/>
                </a:solidFill>
                <a:latin typeface="Roboto" pitchFamily="34" charset="0"/>
                <a:ea typeface="Roboto" pitchFamily="34" charset="-122"/>
                <a:cs typeface="Roboto" pitchFamily="34" charset="-120"/>
              </a:rPr>
              <a:t>Rewards</a:t>
            </a:r>
            <a:endParaRPr lang="en-US" sz="1400" dirty="0"/>
          </a:p>
        </p:txBody>
      </p:sp>
      <p:sp>
        <p:nvSpPr>
          <p:cNvPr id="26" name="Text 22"/>
          <p:cNvSpPr/>
          <p:nvPr/>
        </p:nvSpPr>
        <p:spPr>
          <a:xfrm>
            <a:off x="7219198" y="3251560"/>
            <a:ext cx="1899829"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BDDE2"/>
                </a:solidFill>
                <a:latin typeface="Roboto" pitchFamily="34" charset="0"/>
                <a:ea typeface="Roboto" pitchFamily="34" charset="-122"/>
                <a:cs typeface="Roboto" pitchFamily="34" charset="-120"/>
              </a:rPr>
              <a:t>rules + cosine ML</a:t>
            </a:r>
            <a:endParaRPr lang="en-US" sz="1200" dirty="0"/>
          </a:p>
        </p:txBody>
      </p:sp>
      <p:sp>
        <p:nvSpPr>
          <p:cNvPr id="27" name="Shape 23"/>
          <p:cNvSpPr/>
          <p:nvPr/>
        </p:nvSpPr>
        <p:spPr>
          <a:xfrm>
            <a:off x="9243761" y="2949327"/>
            <a:ext cx="1996895" cy="589251"/>
          </a:xfrm>
          <a:prstGeom prst="roundRect">
            <a:avLst>
              <a:gd name="adj" fmla="val 12932"/>
            </a:avLst>
          </a:prstGeom>
          <a:solidFill>
            <a:srgbClr val="6B3D52"/>
          </a:solidFill>
          <a:ln/>
        </p:spPr>
      </p:sp>
      <p:sp>
        <p:nvSpPr>
          <p:cNvPr id="28" name="Text 24"/>
          <p:cNvSpPr/>
          <p:nvPr/>
        </p:nvSpPr>
        <p:spPr>
          <a:xfrm>
            <a:off x="9292293" y="3038227"/>
            <a:ext cx="1899829"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BF8F9"/>
                </a:solidFill>
                <a:latin typeface="Roboto" pitchFamily="34" charset="0"/>
                <a:ea typeface="Roboto" pitchFamily="34" charset="-122"/>
                <a:cs typeface="Roboto" pitchFamily="34" charset="-120"/>
              </a:rPr>
              <a:t>Notify</a:t>
            </a:r>
            <a:endParaRPr lang="en-US" sz="1400" dirty="0"/>
          </a:p>
        </p:txBody>
      </p:sp>
      <p:sp>
        <p:nvSpPr>
          <p:cNvPr id="29" name="Text 25"/>
          <p:cNvSpPr/>
          <p:nvPr/>
        </p:nvSpPr>
        <p:spPr>
          <a:xfrm>
            <a:off x="9292293" y="3251560"/>
            <a:ext cx="1899829"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BDDE2"/>
                </a:solidFill>
                <a:latin typeface="Roboto" pitchFamily="34" charset="0"/>
                <a:ea typeface="Roboto" pitchFamily="34" charset="-122"/>
                <a:cs typeface="Roboto" pitchFamily="34" charset="-120"/>
              </a:rPr>
              <a:t>expiry alerts</a:t>
            </a:r>
            <a:endParaRPr lang="en-US" sz="1200" dirty="0"/>
          </a:p>
        </p:txBody>
      </p:sp>
      <p:pic>
        <p:nvPicPr>
          <p:cNvPr id="30" name="Image 2" descr="arrow-down">    </p:cNvPr>
          <p:cNvPicPr>
            <a:picLocks noChangeAspect="1"/>
          </p:cNvPicPr>
          <p:nvPr/>
        </p:nvPicPr>
        <p:blipFill>
          <a:blip r:embed="rId3"/>
          <a:srcRect l="0" r="0" t="0" b="0"/>
          <a:stretch/>
        </p:blipFill>
        <p:spPr>
          <a:xfrm>
            <a:off x="4436413" y="3715221"/>
            <a:ext cx="203200" cy="228600"/>
          </a:xfrm>
          <a:prstGeom prst="rect">
            <a:avLst/>
          </a:prstGeom>
        </p:spPr>
      </p:pic>
      <p:sp>
        <p:nvSpPr>
          <p:cNvPr id="31" name="Text 26"/>
          <p:cNvSpPr/>
          <p:nvPr/>
        </p:nvSpPr>
        <p:spPr>
          <a:xfrm>
            <a:off x="4741213" y="3722836"/>
            <a:ext cx="3617249"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every module reads and writes the data layer</a:t>
            </a:r>
            <a:endParaRPr lang="en-US" sz="1200" dirty="0"/>
          </a:p>
        </p:txBody>
      </p:sp>
      <p:sp>
        <p:nvSpPr>
          <p:cNvPr id="32" name="Shape 27"/>
          <p:cNvSpPr/>
          <p:nvPr/>
        </p:nvSpPr>
        <p:spPr>
          <a:xfrm>
            <a:off x="819150" y="4026371"/>
            <a:ext cx="3543300" cy="1026355"/>
          </a:xfrm>
          <a:prstGeom prst="roundRect">
            <a:avLst>
              <a:gd name="adj" fmla="val 9280"/>
            </a:avLst>
          </a:prstGeom>
          <a:solidFill>
            <a:srgbClr val="E6F1EF"/>
          </a:solidFill>
          <a:ln w="12700">
            <a:solidFill>
              <a:srgbClr val="2F6F6A"/>
            </a:solidFill>
            <a:prstDash val="dash"/>
          </a:ln>
        </p:spPr>
      </p:sp>
      <p:sp>
        <p:nvSpPr>
          <p:cNvPr id="33" name="Text 28"/>
          <p:cNvSpPr/>
          <p:nvPr/>
        </p:nvSpPr>
        <p:spPr>
          <a:xfrm>
            <a:off x="951346" y="4120468"/>
            <a:ext cx="3377276" cy="22351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F6F6A"/>
                </a:solidFill>
                <a:latin typeface="Roboto" pitchFamily="34" charset="0"/>
                <a:ea typeface="Roboto" pitchFamily="34" charset="-122"/>
                <a:cs typeface="Roboto" pitchFamily="34" charset="-120"/>
              </a:rPr>
              <a:t>Data layer</a:t>
            </a:r>
            <a:endParaRPr lang="en-US" sz="1200" dirty="0"/>
          </a:p>
        </p:txBody>
      </p:sp>
      <p:sp>
        <p:nvSpPr>
          <p:cNvPr id="34" name="Shape 29"/>
          <p:cNvSpPr/>
          <p:nvPr/>
        </p:nvSpPr>
        <p:spPr>
          <a:xfrm>
            <a:off x="951346" y="4369377"/>
            <a:ext cx="1601355" cy="589251"/>
          </a:xfrm>
          <a:prstGeom prst="roundRect">
            <a:avLst>
              <a:gd name="adj" fmla="val 12932"/>
            </a:avLst>
          </a:prstGeom>
          <a:solidFill>
            <a:srgbClr val="2F6F6A"/>
          </a:solidFill>
          <a:ln/>
        </p:spPr>
      </p:sp>
      <p:sp>
        <p:nvSpPr>
          <p:cNvPr id="35" name="Text 30"/>
          <p:cNvSpPr/>
          <p:nvPr/>
        </p:nvSpPr>
        <p:spPr>
          <a:xfrm>
            <a:off x="1002146" y="4458277"/>
            <a:ext cx="1499755"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BF8F9"/>
                </a:solidFill>
                <a:latin typeface="Roboto" pitchFamily="34" charset="0"/>
                <a:ea typeface="Roboto" pitchFamily="34" charset="-122"/>
                <a:cs typeface="Roboto" pitchFamily="34" charset="-120"/>
              </a:rPr>
              <a:t>PostgreSQL</a:t>
            </a:r>
            <a:endParaRPr lang="en-US" sz="1400" dirty="0"/>
          </a:p>
        </p:txBody>
      </p:sp>
      <p:sp>
        <p:nvSpPr>
          <p:cNvPr id="36" name="Text 31"/>
          <p:cNvSpPr/>
          <p:nvPr/>
        </p:nvSpPr>
        <p:spPr>
          <a:xfrm>
            <a:off x="1002146" y="4671616"/>
            <a:ext cx="1499755"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D5EAE7"/>
                </a:solidFill>
                <a:latin typeface="Roboto" pitchFamily="34" charset="0"/>
                <a:ea typeface="Roboto" pitchFamily="34" charset="-122"/>
                <a:cs typeface="Roboto" pitchFamily="34" charset="-120"/>
              </a:rPr>
              <a:t>ledger, rewards</a:t>
            </a:r>
            <a:endParaRPr lang="en-US" sz="1200" dirty="0"/>
          </a:p>
        </p:txBody>
      </p:sp>
      <p:sp>
        <p:nvSpPr>
          <p:cNvPr id="37" name="Shape 32"/>
          <p:cNvSpPr/>
          <p:nvPr/>
        </p:nvSpPr>
        <p:spPr>
          <a:xfrm>
            <a:off x="2628900" y="4369377"/>
            <a:ext cx="1601355" cy="589251"/>
          </a:xfrm>
          <a:prstGeom prst="roundRect">
            <a:avLst>
              <a:gd name="adj" fmla="val 12932"/>
            </a:avLst>
          </a:prstGeom>
          <a:solidFill>
            <a:srgbClr val="2F6F6A"/>
          </a:solidFill>
          <a:ln/>
        </p:spPr>
      </p:sp>
      <p:sp>
        <p:nvSpPr>
          <p:cNvPr id="38" name="Text 33"/>
          <p:cNvSpPr/>
          <p:nvPr/>
        </p:nvSpPr>
        <p:spPr>
          <a:xfrm>
            <a:off x="2679700" y="4458277"/>
            <a:ext cx="1499755"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FBF8F9"/>
                </a:solidFill>
                <a:latin typeface="Roboto" pitchFamily="34" charset="0"/>
                <a:ea typeface="Roboto" pitchFamily="34" charset="-122"/>
                <a:cs typeface="Roboto" pitchFamily="34" charset="-120"/>
              </a:rPr>
              <a:t>Redis</a:t>
            </a:r>
            <a:endParaRPr lang="en-US" sz="1400" dirty="0"/>
          </a:p>
        </p:txBody>
      </p:sp>
      <p:sp>
        <p:nvSpPr>
          <p:cNvPr id="39" name="Text 34"/>
          <p:cNvSpPr/>
          <p:nvPr/>
        </p:nvSpPr>
        <p:spPr>
          <a:xfrm>
            <a:off x="2679700" y="4671616"/>
            <a:ext cx="1499755"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D5EAE7"/>
                </a:solidFill>
                <a:latin typeface="Roboto" pitchFamily="34" charset="0"/>
                <a:ea typeface="Roboto" pitchFamily="34" charset="-122"/>
                <a:cs typeface="Roboto" pitchFamily="34" charset="-120"/>
              </a:rPr>
              <a:t>cache, job queue</a:t>
            </a:r>
            <a:endParaRPr lang="en-US" sz="1200" dirty="0"/>
          </a:p>
        </p:txBody>
      </p:sp>
      <p:pic>
        <p:nvPicPr>
          <p:cNvPr id="40" name="Image 3" descr="arrow-left">    </p:cNvPr>
          <p:cNvPicPr>
            <a:picLocks noChangeAspect="1"/>
          </p:cNvPicPr>
          <p:nvPr/>
        </p:nvPicPr>
        <p:blipFill>
          <a:blip r:embed="rId4"/>
          <a:srcRect l="0" r="0" t="0" b="0"/>
          <a:stretch/>
        </p:blipFill>
        <p:spPr>
          <a:xfrm>
            <a:off x="4445000" y="4437931"/>
            <a:ext cx="355600" cy="203200"/>
          </a:xfrm>
          <a:prstGeom prst="rect">
            <a:avLst/>
          </a:prstGeom>
        </p:spPr>
      </p:pic>
      <p:sp>
        <p:nvSpPr>
          <p:cNvPr id="41" name="Shape 35"/>
          <p:cNvSpPr/>
          <p:nvPr/>
        </p:nvSpPr>
        <p:spPr>
          <a:xfrm>
            <a:off x="4883150" y="4026371"/>
            <a:ext cx="6489700" cy="1026355"/>
          </a:xfrm>
          <a:prstGeom prst="roundRect">
            <a:avLst>
              <a:gd name="adj" fmla="val 9280"/>
            </a:avLst>
          </a:prstGeom>
          <a:solidFill>
            <a:srgbClr val="F0EDEE"/>
          </a:solidFill>
          <a:ln w="12700">
            <a:solidFill>
              <a:srgbClr val="8B7F85"/>
            </a:solidFill>
            <a:prstDash val="dash"/>
          </a:ln>
        </p:spPr>
      </p:sp>
      <p:sp>
        <p:nvSpPr>
          <p:cNvPr id="42" name="Text 36"/>
          <p:cNvSpPr/>
          <p:nvPr/>
        </p:nvSpPr>
        <p:spPr>
          <a:xfrm>
            <a:off x="5015345" y="4120468"/>
            <a:ext cx="6412068" cy="22351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5F64"/>
                </a:solidFill>
                <a:latin typeface="Roboto" pitchFamily="34" charset="0"/>
                <a:ea typeface="Roboto" pitchFamily="34" charset="-122"/>
                <a:cs typeface="Roboto" pitchFamily="34" charset="-120"/>
              </a:rPr>
              <a:t>Background pipeline</a:t>
            </a:r>
            <a:endParaRPr lang="en-US" sz="1200" dirty="0"/>
          </a:p>
        </p:txBody>
      </p:sp>
      <p:sp>
        <p:nvSpPr>
          <p:cNvPr id="43" name="Shape 37"/>
          <p:cNvSpPr/>
          <p:nvPr/>
        </p:nvSpPr>
        <p:spPr>
          <a:xfrm>
            <a:off x="5015345" y="4373997"/>
            <a:ext cx="1834934" cy="574026"/>
          </a:xfrm>
          <a:prstGeom prst="roundRect">
            <a:avLst>
              <a:gd name="adj" fmla="val 13275"/>
            </a:avLst>
          </a:prstGeom>
          <a:solidFill>
            <a:srgbClr val="6B3D52"/>
          </a:solidFill>
          <a:ln/>
        </p:spPr>
      </p:sp>
      <p:sp>
        <p:nvSpPr>
          <p:cNvPr id="44" name="Text 38"/>
          <p:cNvSpPr/>
          <p:nvPr/>
        </p:nvSpPr>
        <p:spPr>
          <a:xfrm>
            <a:off x="5066145" y="4462897"/>
            <a:ext cx="1733334" cy="223513"/>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FBF8F9"/>
                </a:solidFill>
                <a:latin typeface="Roboto" pitchFamily="34" charset="0"/>
                <a:ea typeface="Roboto" pitchFamily="34" charset="-122"/>
                <a:cs typeface="Roboto" pitchFamily="34" charset="-120"/>
              </a:rPr>
              <a:t>Sync workers</a:t>
            </a:r>
            <a:endParaRPr lang="en-US" sz="1300" dirty="0"/>
          </a:p>
        </p:txBody>
      </p:sp>
      <p:sp>
        <p:nvSpPr>
          <p:cNvPr id="45" name="Text 39"/>
          <p:cNvSpPr/>
          <p:nvPr/>
        </p:nvSpPr>
        <p:spPr>
          <a:xfrm>
            <a:off x="5066145" y="4661012"/>
            <a:ext cx="1733334"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BDDE2"/>
                </a:solidFill>
                <a:latin typeface="Roboto" pitchFamily="34" charset="0"/>
                <a:ea typeface="Roboto" pitchFamily="34" charset="-122"/>
                <a:cs typeface="Roboto" pitchFamily="34" charset="-120"/>
              </a:rPr>
              <a:t>schedule, retry</a:t>
            </a:r>
            <a:endParaRPr lang="en-US" sz="1200" dirty="0"/>
          </a:p>
        </p:txBody>
      </p:sp>
      <p:pic>
        <p:nvPicPr>
          <p:cNvPr id="46" name="Image 4" descr="arrow-right">    </p:cNvPr>
          <p:cNvPicPr>
            <a:picLocks noChangeAspect="1"/>
          </p:cNvPicPr>
          <p:nvPr/>
        </p:nvPicPr>
        <p:blipFill>
          <a:blip r:embed="rId5"/>
          <a:srcRect l="0" r="0" t="0" b="0"/>
          <a:stretch/>
        </p:blipFill>
        <p:spPr>
          <a:xfrm>
            <a:off x="6901080" y="4572112"/>
            <a:ext cx="254000" cy="177800"/>
          </a:xfrm>
          <a:prstGeom prst="rect">
            <a:avLst/>
          </a:prstGeom>
        </p:spPr>
      </p:pic>
      <p:sp>
        <p:nvSpPr>
          <p:cNvPr id="47" name="Shape 40"/>
          <p:cNvSpPr/>
          <p:nvPr/>
        </p:nvSpPr>
        <p:spPr>
          <a:xfrm>
            <a:off x="7205880" y="4373997"/>
            <a:ext cx="1834970" cy="574026"/>
          </a:xfrm>
          <a:prstGeom prst="roundRect">
            <a:avLst>
              <a:gd name="adj" fmla="val 13275"/>
            </a:avLst>
          </a:prstGeom>
          <a:solidFill>
            <a:srgbClr val="6B3D52"/>
          </a:solidFill>
          <a:ln/>
        </p:spPr>
      </p:sp>
      <p:sp>
        <p:nvSpPr>
          <p:cNvPr id="48" name="Text 41"/>
          <p:cNvSpPr/>
          <p:nvPr/>
        </p:nvSpPr>
        <p:spPr>
          <a:xfrm>
            <a:off x="7256680" y="4462897"/>
            <a:ext cx="1733370" cy="223513"/>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FBF8F9"/>
                </a:solidFill>
                <a:latin typeface="Roboto" pitchFamily="34" charset="0"/>
                <a:ea typeface="Roboto" pitchFamily="34" charset="-122"/>
                <a:cs typeface="Roboto" pitchFamily="34" charset="-120"/>
              </a:rPr>
              <a:t>Connectors</a:t>
            </a:r>
            <a:endParaRPr lang="en-US" sz="1300" dirty="0"/>
          </a:p>
        </p:txBody>
      </p:sp>
      <p:sp>
        <p:nvSpPr>
          <p:cNvPr id="49" name="Text 42"/>
          <p:cNvSpPr/>
          <p:nvPr/>
        </p:nvSpPr>
        <p:spPr>
          <a:xfrm>
            <a:off x="7256680" y="4661012"/>
            <a:ext cx="1733370"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EBDDE2"/>
                </a:solidFill>
                <a:latin typeface="Roboto" pitchFamily="34" charset="0"/>
                <a:ea typeface="Roboto" pitchFamily="34" charset="-122"/>
                <a:cs typeface="Roboto" pitchFamily="34" charset="-120"/>
              </a:rPr>
              <a:t>adapter per program</a:t>
            </a:r>
            <a:endParaRPr lang="en-US" sz="1200" dirty="0"/>
          </a:p>
        </p:txBody>
      </p:sp>
      <p:pic>
        <p:nvPicPr>
          <p:cNvPr id="50" name="Image 5" descr="arrow-right">    </p:cNvPr>
          <p:cNvPicPr>
            <a:picLocks noChangeAspect="1"/>
          </p:cNvPicPr>
          <p:nvPr/>
        </p:nvPicPr>
        <p:blipFill>
          <a:blip r:embed="rId6"/>
          <a:srcRect l="0" r="0" t="0" b="0"/>
          <a:stretch/>
        </p:blipFill>
        <p:spPr>
          <a:xfrm>
            <a:off x="9091649" y="4572112"/>
            <a:ext cx="254000" cy="177800"/>
          </a:xfrm>
          <a:prstGeom prst="rect">
            <a:avLst/>
          </a:prstGeom>
        </p:spPr>
      </p:pic>
      <p:sp>
        <p:nvSpPr>
          <p:cNvPr id="51" name="Shape 43"/>
          <p:cNvSpPr/>
          <p:nvPr/>
        </p:nvSpPr>
        <p:spPr>
          <a:xfrm>
            <a:off x="9399624" y="4372552"/>
            <a:ext cx="1837856" cy="576912"/>
          </a:xfrm>
          <a:prstGeom prst="roundRect">
            <a:avLst>
              <a:gd name="adj" fmla="val 12658"/>
            </a:avLst>
          </a:prstGeom>
          <a:solidFill>
            <a:srgbClr val="E8E4E6"/>
          </a:solidFill>
          <a:ln w="6350">
            <a:solidFill>
              <a:srgbClr val="CFC8CB"/>
            </a:solidFill>
            <a:prstDash val="solid"/>
          </a:ln>
        </p:spPr>
      </p:sp>
      <p:sp>
        <p:nvSpPr>
          <p:cNvPr id="52" name="Text 44"/>
          <p:cNvSpPr/>
          <p:nvPr/>
        </p:nvSpPr>
        <p:spPr>
          <a:xfrm>
            <a:off x="9451867" y="4462897"/>
            <a:ext cx="1733370" cy="223513"/>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3A2F33"/>
                </a:solidFill>
                <a:latin typeface="Roboto" pitchFamily="34" charset="0"/>
                <a:ea typeface="Roboto" pitchFamily="34" charset="-122"/>
                <a:cs typeface="Roboto" pitchFamily="34" charset="-120"/>
              </a:rPr>
              <a:t>Loyalty programs</a:t>
            </a:r>
            <a:endParaRPr lang="en-US" sz="1300" dirty="0"/>
          </a:p>
        </p:txBody>
      </p:sp>
      <p:sp>
        <p:nvSpPr>
          <p:cNvPr id="53" name="Text 45"/>
          <p:cNvSpPr/>
          <p:nvPr/>
        </p:nvSpPr>
        <p:spPr>
          <a:xfrm>
            <a:off x="9451867" y="4661012"/>
            <a:ext cx="1733370"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3F44"/>
                </a:solidFill>
                <a:latin typeface="Roboto" pitchFamily="34" charset="0"/>
                <a:ea typeface="Roboto" pitchFamily="34" charset="-122"/>
                <a:cs typeface="Roboto" pitchFamily="34" charset="-120"/>
              </a:rPr>
              <a:t>simulated in Phase 1</a:t>
            </a:r>
            <a:endParaRPr lang="en-US" sz="1200" dirty="0"/>
          </a:p>
        </p:txBody>
      </p:sp>
      <p:sp>
        <p:nvSpPr>
          <p:cNvPr id="54" name="Shape 46"/>
          <p:cNvSpPr/>
          <p:nvPr/>
        </p:nvSpPr>
        <p:spPr>
          <a:xfrm>
            <a:off x="815975" y="5168900"/>
            <a:ext cx="146050" cy="146050"/>
          </a:xfrm>
          <a:prstGeom prst="roundRect">
            <a:avLst>
              <a:gd name="adj" fmla="val 15217"/>
            </a:avLst>
          </a:prstGeom>
          <a:solidFill>
            <a:srgbClr val="E8E4E6"/>
          </a:solidFill>
          <a:ln w="6350">
            <a:solidFill>
              <a:srgbClr val="CFC8CB"/>
            </a:solidFill>
            <a:prstDash val="solid"/>
          </a:ln>
        </p:spPr>
      </p:sp>
      <p:sp>
        <p:nvSpPr>
          <p:cNvPr id="55" name="Text 47"/>
          <p:cNvSpPr/>
          <p:nvPr/>
        </p:nvSpPr>
        <p:spPr>
          <a:xfrm>
            <a:off x="1028700" y="5135277"/>
            <a:ext cx="1395016"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Entry and external</a:t>
            </a:r>
            <a:endParaRPr lang="en-US" sz="1200" dirty="0"/>
          </a:p>
        </p:txBody>
      </p:sp>
      <p:sp>
        <p:nvSpPr>
          <p:cNvPr id="56" name="Shape 48"/>
          <p:cNvSpPr/>
          <p:nvPr/>
        </p:nvSpPr>
        <p:spPr>
          <a:xfrm>
            <a:off x="2423716" y="5165725"/>
            <a:ext cx="152400" cy="152400"/>
          </a:xfrm>
          <a:prstGeom prst="roundRect">
            <a:avLst>
              <a:gd name="adj" fmla="val 16667"/>
            </a:avLst>
          </a:prstGeom>
          <a:solidFill>
            <a:srgbClr val="6B3D52"/>
          </a:solidFill>
          <a:ln/>
        </p:spPr>
      </p:sp>
      <p:sp>
        <p:nvSpPr>
          <p:cNvPr id="57" name="Text 49"/>
          <p:cNvSpPr/>
          <p:nvPr/>
        </p:nvSpPr>
        <p:spPr>
          <a:xfrm>
            <a:off x="2639616" y="5135277"/>
            <a:ext cx="1307342"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Application logic</a:t>
            </a:r>
            <a:endParaRPr lang="en-US" sz="1200" dirty="0"/>
          </a:p>
        </p:txBody>
      </p:sp>
      <p:sp>
        <p:nvSpPr>
          <p:cNvPr id="58" name="Shape 50"/>
          <p:cNvSpPr/>
          <p:nvPr/>
        </p:nvSpPr>
        <p:spPr>
          <a:xfrm>
            <a:off x="3946958" y="5165725"/>
            <a:ext cx="152400" cy="152400"/>
          </a:xfrm>
          <a:prstGeom prst="roundRect">
            <a:avLst>
              <a:gd name="adj" fmla="val 16667"/>
            </a:avLst>
          </a:prstGeom>
          <a:solidFill>
            <a:srgbClr val="2F6F6A"/>
          </a:solidFill>
          <a:ln/>
        </p:spPr>
      </p:sp>
      <p:sp>
        <p:nvSpPr>
          <p:cNvPr id="59" name="Text 51"/>
          <p:cNvSpPr/>
          <p:nvPr/>
        </p:nvSpPr>
        <p:spPr>
          <a:xfrm>
            <a:off x="4162858" y="5135277"/>
            <a:ext cx="932541"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Data stores</a:t>
            </a:r>
            <a:endParaRPr lang="en-US" sz="1200" dirty="0"/>
          </a:p>
        </p:txBody>
      </p:sp>
      <p:sp>
        <p:nvSpPr>
          <p:cNvPr id="60" name="Text 52"/>
          <p:cNvSpPr/>
          <p:nvPr/>
        </p:nvSpPr>
        <p:spPr>
          <a:xfrm>
            <a:off x="812800" y="6238261"/>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61" name="Text 53"/>
          <p:cNvSpPr/>
          <p:nvPr/>
        </p:nvSpPr>
        <p:spPr>
          <a:xfrm>
            <a:off x="10058400" y="6238261"/>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05</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End-to-End Working Model</a:t>
            </a:r>
            <a:endParaRPr lang="en-US" sz="3200" dirty="0"/>
          </a:p>
        </p:txBody>
      </p:sp>
      <p:sp>
        <p:nvSpPr>
          <p:cNvPr id="4" name="Shape 2"/>
          <p:cNvSpPr/>
          <p:nvPr/>
        </p:nvSpPr>
        <p:spPr>
          <a:xfrm>
            <a:off x="815975" y="1725253"/>
            <a:ext cx="2520950" cy="1686863"/>
          </a:xfrm>
          <a:prstGeom prst="roundRect">
            <a:avLst>
              <a:gd name="adj" fmla="val 5835"/>
            </a:avLst>
          </a:prstGeom>
          <a:solidFill>
            <a:srgbClr val="F5EAEE"/>
          </a:solidFill>
          <a:ln w="6350">
            <a:solidFill>
              <a:srgbClr val="DEC8D0"/>
            </a:solidFill>
            <a:prstDash val="solid"/>
          </a:ln>
        </p:spPr>
      </p:sp>
      <p:sp>
        <p:nvSpPr>
          <p:cNvPr id="5" name="Text 3"/>
          <p:cNvSpPr/>
          <p:nvPr/>
        </p:nvSpPr>
        <p:spPr>
          <a:xfrm>
            <a:off x="995218" y="1904498"/>
            <a:ext cx="355600" cy="355600"/>
          </a:xfrm>
          <a:prstGeom prst="roundRect">
            <a:avLst>
              <a:gd name="adj" fmla="val 50000"/>
            </a:avLst>
          </a:prstGeom>
          <a:solidFill>
            <a:srgbClr val="6B3D52"/>
          </a:solidFill>
          <a:ln/>
        </p:spPr>
        <p:txBody>
          <a:bodyPr wrap="square" lIns="0" tIns="0" rIns="0" bIns="0" rtlCol="0" anchor="ctr">
            <a:normAutofit/>
          </a:bodyPr>
          <a:lstStyle/>
          <a:p>
            <a:pPr algn="ctr" indent="0" marL="0">
              <a:lnSpc>
                <a:spcPts val="1400"/>
              </a:lnSpc>
              <a:buNone/>
            </a:pPr>
            <a:r>
              <a:rPr lang="en-US" sz="1400" b="1" dirty="0">
                <a:solidFill>
                  <a:srgbClr val="FBF8F9"/>
                </a:solidFill>
                <a:latin typeface="Roboto" pitchFamily="34" charset="0"/>
                <a:ea typeface="Roboto" pitchFamily="34" charset="-122"/>
                <a:cs typeface="Roboto" pitchFamily="34" charset="-120"/>
              </a:rPr>
              <a:t>1</a:t>
            </a:r>
            <a:endParaRPr lang="en-US" sz="1400" dirty="0"/>
          </a:p>
        </p:txBody>
      </p:sp>
      <p:sp>
        <p:nvSpPr>
          <p:cNvPr id="6" name="Text 4"/>
          <p:cNvSpPr/>
          <p:nvPr/>
        </p:nvSpPr>
        <p:spPr>
          <a:xfrm>
            <a:off x="995218" y="2323598"/>
            <a:ext cx="2227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B2839"/>
                </a:solidFill>
                <a:latin typeface="Roboto" pitchFamily="34" charset="0"/>
                <a:ea typeface="Roboto" pitchFamily="34" charset="-122"/>
                <a:cs typeface="Roboto" pitchFamily="34" charset="-120"/>
              </a:rPr>
              <a:t>Sign up and log in</a:t>
            </a:r>
            <a:endParaRPr lang="en-US" sz="1500" dirty="0"/>
          </a:p>
        </p:txBody>
      </p:sp>
      <p:sp>
        <p:nvSpPr>
          <p:cNvPr id="7" name="Text 5"/>
          <p:cNvSpPr/>
          <p:nvPr/>
        </p:nvSpPr>
        <p:spPr>
          <a:xfrm>
            <a:off x="995218" y="2615698"/>
            <a:ext cx="2227338" cy="43685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2F33"/>
                </a:solidFill>
                <a:latin typeface="Roboto" pitchFamily="34" charset="0"/>
                <a:ea typeface="Roboto" pitchFamily="34" charset="-122"/>
                <a:cs typeface="Roboto" pitchFamily="34" charset="-120"/>
              </a:rPr>
              <a:t>The server issues a JWT for the session.</a:t>
            </a:r>
            <a:endParaRPr lang="en-US" sz="1200" dirty="0"/>
          </a:p>
        </p:txBody>
      </p:sp>
      <p:sp>
        <p:nvSpPr>
          <p:cNvPr id="8" name="Shape 6"/>
          <p:cNvSpPr/>
          <p:nvPr/>
        </p:nvSpPr>
        <p:spPr>
          <a:xfrm>
            <a:off x="3495675" y="1725253"/>
            <a:ext cx="2520950" cy="1686863"/>
          </a:xfrm>
          <a:prstGeom prst="roundRect">
            <a:avLst>
              <a:gd name="adj" fmla="val 5835"/>
            </a:avLst>
          </a:prstGeom>
          <a:solidFill>
            <a:srgbClr val="F5EAEE"/>
          </a:solidFill>
          <a:ln w="6350">
            <a:solidFill>
              <a:srgbClr val="DEC8D0"/>
            </a:solidFill>
            <a:prstDash val="solid"/>
          </a:ln>
        </p:spPr>
      </p:sp>
      <p:sp>
        <p:nvSpPr>
          <p:cNvPr id="9" name="Text 7"/>
          <p:cNvSpPr/>
          <p:nvPr/>
        </p:nvSpPr>
        <p:spPr>
          <a:xfrm>
            <a:off x="3674918" y="1904498"/>
            <a:ext cx="355600" cy="355600"/>
          </a:xfrm>
          <a:prstGeom prst="roundRect">
            <a:avLst>
              <a:gd name="adj" fmla="val 50000"/>
            </a:avLst>
          </a:prstGeom>
          <a:solidFill>
            <a:srgbClr val="6B3D52"/>
          </a:solidFill>
          <a:ln/>
        </p:spPr>
        <p:txBody>
          <a:bodyPr wrap="square" lIns="0" tIns="0" rIns="0" bIns="0" rtlCol="0" anchor="ctr">
            <a:normAutofit/>
          </a:bodyPr>
          <a:lstStyle/>
          <a:p>
            <a:pPr algn="ctr" indent="0" marL="0">
              <a:lnSpc>
                <a:spcPts val="1400"/>
              </a:lnSpc>
              <a:buNone/>
            </a:pPr>
            <a:r>
              <a:rPr lang="en-US" sz="1400" b="1" dirty="0">
                <a:solidFill>
                  <a:srgbClr val="FBF8F9"/>
                </a:solidFill>
                <a:latin typeface="Roboto" pitchFamily="34" charset="0"/>
                <a:ea typeface="Roboto" pitchFamily="34" charset="-122"/>
                <a:cs typeface="Roboto" pitchFamily="34" charset="-120"/>
              </a:rPr>
              <a:t>2</a:t>
            </a:r>
            <a:endParaRPr lang="en-US" sz="1400" dirty="0"/>
          </a:p>
        </p:txBody>
      </p:sp>
      <p:sp>
        <p:nvSpPr>
          <p:cNvPr id="10" name="Text 8"/>
          <p:cNvSpPr/>
          <p:nvPr/>
        </p:nvSpPr>
        <p:spPr>
          <a:xfrm>
            <a:off x="3674918" y="2323598"/>
            <a:ext cx="2227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B2839"/>
                </a:solidFill>
                <a:latin typeface="Roboto" pitchFamily="34" charset="0"/>
                <a:ea typeface="Roboto" pitchFamily="34" charset="-122"/>
                <a:cs typeface="Roboto" pitchFamily="34" charset="-120"/>
              </a:rPr>
              <a:t>Link programs</a:t>
            </a:r>
            <a:endParaRPr lang="en-US" sz="1500" dirty="0"/>
          </a:p>
        </p:txBody>
      </p:sp>
      <p:sp>
        <p:nvSpPr>
          <p:cNvPr id="11" name="Text 9"/>
          <p:cNvSpPr/>
          <p:nvPr/>
        </p:nvSpPr>
        <p:spPr>
          <a:xfrm>
            <a:off x="3674918" y="2615698"/>
            <a:ext cx="2227338" cy="43685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2F33"/>
                </a:solidFill>
                <a:latin typeface="Roboto" pitchFamily="34" charset="0"/>
                <a:ea typeface="Roboto" pitchFamily="34" charset="-122"/>
                <a:cs typeface="Roboto" pitchFamily="34" charset="-120"/>
              </a:rPr>
              <a:t>Connectors link accounts; tokens are stored encrypted.</a:t>
            </a:r>
            <a:endParaRPr lang="en-US" sz="1200" dirty="0"/>
          </a:p>
        </p:txBody>
      </p:sp>
      <p:sp>
        <p:nvSpPr>
          <p:cNvPr id="12" name="Shape 10"/>
          <p:cNvSpPr/>
          <p:nvPr/>
        </p:nvSpPr>
        <p:spPr>
          <a:xfrm>
            <a:off x="6175375" y="1725253"/>
            <a:ext cx="2520950" cy="1686863"/>
          </a:xfrm>
          <a:prstGeom prst="roundRect">
            <a:avLst>
              <a:gd name="adj" fmla="val 5835"/>
            </a:avLst>
          </a:prstGeom>
          <a:solidFill>
            <a:srgbClr val="F5EAEE"/>
          </a:solidFill>
          <a:ln w="6350">
            <a:solidFill>
              <a:srgbClr val="DEC8D0"/>
            </a:solidFill>
            <a:prstDash val="solid"/>
          </a:ln>
        </p:spPr>
      </p:sp>
      <p:sp>
        <p:nvSpPr>
          <p:cNvPr id="13" name="Text 11"/>
          <p:cNvSpPr/>
          <p:nvPr/>
        </p:nvSpPr>
        <p:spPr>
          <a:xfrm>
            <a:off x="6354618" y="1904498"/>
            <a:ext cx="355600" cy="355600"/>
          </a:xfrm>
          <a:prstGeom prst="roundRect">
            <a:avLst>
              <a:gd name="adj" fmla="val 50000"/>
            </a:avLst>
          </a:prstGeom>
          <a:solidFill>
            <a:srgbClr val="6B3D52"/>
          </a:solidFill>
          <a:ln/>
        </p:spPr>
        <p:txBody>
          <a:bodyPr wrap="square" lIns="0" tIns="0" rIns="0" bIns="0" rtlCol="0" anchor="ctr">
            <a:normAutofit/>
          </a:bodyPr>
          <a:lstStyle/>
          <a:p>
            <a:pPr algn="ctr" indent="0" marL="0">
              <a:lnSpc>
                <a:spcPts val="1400"/>
              </a:lnSpc>
              <a:buNone/>
            </a:pPr>
            <a:r>
              <a:rPr lang="en-US" sz="1400" b="1" dirty="0">
                <a:solidFill>
                  <a:srgbClr val="FBF8F9"/>
                </a:solidFill>
                <a:latin typeface="Roboto" pitchFamily="34" charset="0"/>
                <a:ea typeface="Roboto" pitchFamily="34" charset="-122"/>
                <a:cs typeface="Roboto" pitchFamily="34" charset="-120"/>
              </a:rPr>
              <a:t>3</a:t>
            </a:r>
            <a:endParaRPr lang="en-US" sz="1400" dirty="0"/>
          </a:p>
        </p:txBody>
      </p:sp>
      <p:sp>
        <p:nvSpPr>
          <p:cNvPr id="14" name="Text 12"/>
          <p:cNvSpPr/>
          <p:nvPr/>
        </p:nvSpPr>
        <p:spPr>
          <a:xfrm>
            <a:off x="6354618" y="2323598"/>
            <a:ext cx="2227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B2839"/>
                </a:solidFill>
                <a:latin typeface="Roboto" pitchFamily="34" charset="0"/>
                <a:ea typeface="Roboto" pitchFamily="34" charset="-122"/>
                <a:cs typeface="Roboto" pitchFamily="34" charset="-120"/>
              </a:rPr>
              <a:t>Sync in background</a:t>
            </a:r>
            <a:endParaRPr lang="en-US" sz="1500" dirty="0"/>
          </a:p>
        </p:txBody>
      </p:sp>
      <p:sp>
        <p:nvSpPr>
          <p:cNvPr id="15" name="Text 13"/>
          <p:cNvSpPr/>
          <p:nvPr/>
        </p:nvSpPr>
        <p:spPr>
          <a:xfrm>
            <a:off x="6354618" y="2615698"/>
            <a:ext cx="2227338" cy="64257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2F33"/>
                </a:solidFill>
                <a:latin typeface="Roboto" pitchFamily="34" charset="0"/>
                <a:ea typeface="Roboto" pitchFamily="34" charset="-122"/>
                <a:cs typeface="Roboto" pitchFamily="34" charset="-120"/>
              </a:rPr>
              <a:t>Jobs sync balances and normalize them to a common value.</a:t>
            </a:r>
            <a:endParaRPr lang="en-US" sz="1200" dirty="0"/>
          </a:p>
        </p:txBody>
      </p:sp>
      <p:sp>
        <p:nvSpPr>
          <p:cNvPr id="16" name="Shape 14"/>
          <p:cNvSpPr/>
          <p:nvPr/>
        </p:nvSpPr>
        <p:spPr>
          <a:xfrm>
            <a:off x="8855075" y="1725253"/>
            <a:ext cx="2520950" cy="1686863"/>
          </a:xfrm>
          <a:prstGeom prst="roundRect">
            <a:avLst>
              <a:gd name="adj" fmla="val 5835"/>
            </a:avLst>
          </a:prstGeom>
          <a:solidFill>
            <a:srgbClr val="F5EAEE"/>
          </a:solidFill>
          <a:ln w="6350">
            <a:solidFill>
              <a:srgbClr val="DEC8D0"/>
            </a:solidFill>
            <a:prstDash val="solid"/>
          </a:ln>
        </p:spPr>
      </p:sp>
      <p:sp>
        <p:nvSpPr>
          <p:cNvPr id="17" name="Text 15"/>
          <p:cNvSpPr/>
          <p:nvPr/>
        </p:nvSpPr>
        <p:spPr>
          <a:xfrm>
            <a:off x="9034318" y="1904498"/>
            <a:ext cx="355600" cy="355600"/>
          </a:xfrm>
          <a:prstGeom prst="roundRect">
            <a:avLst>
              <a:gd name="adj" fmla="val 50000"/>
            </a:avLst>
          </a:prstGeom>
          <a:solidFill>
            <a:srgbClr val="6B3D52"/>
          </a:solidFill>
          <a:ln/>
        </p:spPr>
        <p:txBody>
          <a:bodyPr wrap="square" lIns="0" tIns="0" rIns="0" bIns="0" rtlCol="0" anchor="ctr">
            <a:normAutofit/>
          </a:bodyPr>
          <a:lstStyle/>
          <a:p>
            <a:pPr algn="ctr" indent="0" marL="0">
              <a:lnSpc>
                <a:spcPts val="1400"/>
              </a:lnSpc>
              <a:buNone/>
            </a:pPr>
            <a:r>
              <a:rPr lang="en-US" sz="1400" b="1" dirty="0">
                <a:solidFill>
                  <a:srgbClr val="FBF8F9"/>
                </a:solidFill>
                <a:latin typeface="Roboto" pitchFamily="34" charset="0"/>
                <a:ea typeface="Roboto" pitchFamily="34" charset="-122"/>
                <a:cs typeface="Roboto" pitchFamily="34" charset="-120"/>
              </a:rPr>
              <a:t>4</a:t>
            </a:r>
            <a:endParaRPr lang="en-US" sz="1400" dirty="0"/>
          </a:p>
        </p:txBody>
      </p:sp>
      <p:sp>
        <p:nvSpPr>
          <p:cNvPr id="18" name="Text 16"/>
          <p:cNvSpPr/>
          <p:nvPr/>
        </p:nvSpPr>
        <p:spPr>
          <a:xfrm>
            <a:off x="9034318" y="2323598"/>
            <a:ext cx="2227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B2839"/>
                </a:solidFill>
                <a:latin typeface="Roboto" pitchFamily="34" charset="0"/>
                <a:ea typeface="Roboto" pitchFamily="34" charset="-122"/>
                <a:cs typeface="Roboto" pitchFamily="34" charset="-120"/>
              </a:rPr>
              <a:t>Open the dashboard</a:t>
            </a:r>
            <a:endParaRPr lang="en-US" sz="1500" dirty="0"/>
          </a:p>
        </p:txBody>
      </p:sp>
      <p:sp>
        <p:nvSpPr>
          <p:cNvPr id="19" name="Text 17"/>
          <p:cNvSpPr/>
          <p:nvPr/>
        </p:nvSpPr>
        <p:spPr>
          <a:xfrm>
            <a:off x="9034318" y="2615698"/>
            <a:ext cx="2227338" cy="43685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2F33"/>
                </a:solidFill>
                <a:latin typeface="Roboto" pitchFamily="34" charset="0"/>
                <a:ea typeface="Roboto" pitchFamily="34" charset="-122"/>
                <a:cs typeface="Roboto" pitchFamily="34" charset="-120"/>
              </a:rPr>
              <a:t>All points in one place, served from cache or database.</a:t>
            </a:r>
            <a:endParaRPr lang="en-US" sz="1200" dirty="0"/>
          </a:p>
        </p:txBody>
      </p:sp>
      <p:sp>
        <p:nvSpPr>
          <p:cNvPr id="20" name="Shape 18"/>
          <p:cNvSpPr/>
          <p:nvPr/>
        </p:nvSpPr>
        <p:spPr>
          <a:xfrm>
            <a:off x="815975" y="3570864"/>
            <a:ext cx="2520950" cy="1481138"/>
          </a:xfrm>
          <a:prstGeom prst="roundRect">
            <a:avLst>
              <a:gd name="adj" fmla="val 6645"/>
            </a:avLst>
          </a:prstGeom>
          <a:solidFill>
            <a:srgbClr val="F5EAEE"/>
          </a:solidFill>
          <a:ln w="6350">
            <a:solidFill>
              <a:srgbClr val="DEC8D0"/>
            </a:solidFill>
            <a:prstDash val="solid"/>
          </a:ln>
        </p:spPr>
      </p:sp>
      <p:sp>
        <p:nvSpPr>
          <p:cNvPr id="21" name="Text 19"/>
          <p:cNvSpPr/>
          <p:nvPr/>
        </p:nvSpPr>
        <p:spPr>
          <a:xfrm>
            <a:off x="995218" y="3750109"/>
            <a:ext cx="355600" cy="355600"/>
          </a:xfrm>
          <a:prstGeom prst="roundRect">
            <a:avLst>
              <a:gd name="adj" fmla="val 50000"/>
            </a:avLst>
          </a:prstGeom>
          <a:solidFill>
            <a:srgbClr val="6B3D52"/>
          </a:solidFill>
          <a:ln/>
        </p:spPr>
        <p:txBody>
          <a:bodyPr wrap="square" lIns="0" tIns="0" rIns="0" bIns="0" rtlCol="0" anchor="ctr">
            <a:normAutofit/>
          </a:bodyPr>
          <a:lstStyle/>
          <a:p>
            <a:pPr algn="ctr" indent="0" marL="0">
              <a:lnSpc>
                <a:spcPts val="1400"/>
              </a:lnSpc>
              <a:buNone/>
            </a:pPr>
            <a:r>
              <a:rPr lang="en-US" sz="1400" b="1" dirty="0">
                <a:solidFill>
                  <a:srgbClr val="FBF8F9"/>
                </a:solidFill>
                <a:latin typeface="Roboto" pitchFamily="34" charset="0"/>
                <a:ea typeface="Roboto" pitchFamily="34" charset="-122"/>
                <a:cs typeface="Roboto" pitchFamily="34" charset="-120"/>
              </a:rPr>
              <a:t>5</a:t>
            </a:r>
            <a:endParaRPr lang="en-US" sz="1400" dirty="0"/>
          </a:p>
        </p:txBody>
      </p:sp>
      <p:sp>
        <p:nvSpPr>
          <p:cNvPr id="22" name="Text 20"/>
          <p:cNvSpPr/>
          <p:nvPr/>
        </p:nvSpPr>
        <p:spPr>
          <a:xfrm>
            <a:off x="995218" y="4169209"/>
            <a:ext cx="2227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B2839"/>
                </a:solidFill>
                <a:latin typeface="Roboto" pitchFamily="34" charset="0"/>
                <a:ea typeface="Roboto" pitchFamily="34" charset="-122"/>
                <a:cs typeface="Roboto" pitchFamily="34" charset="-120"/>
              </a:rPr>
              <a:t>Get expiry alerts</a:t>
            </a:r>
            <a:endParaRPr lang="en-US" sz="1500" dirty="0"/>
          </a:p>
        </p:txBody>
      </p:sp>
      <p:sp>
        <p:nvSpPr>
          <p:cNvPr id="23" name="Text 21"/>
          <p:cNvSpPr/>
          <p:nvPr/>
        </p:nvSpPr>
        <p:spPr>
          <a:xfrm>
            <a:off x="995218" y="4461309"/>
            <a:ext cx="2227338" cy="43685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2F33"/>
                </a:solidFill>
                <a:latin typeface="Roboto" pitchFamily="34" charset="0"/>
                <a:ea typeface="Roboto" pitchFamily="34" charset="-122"/>
                <a:cs typeface="Roboto" pitchFamily="34" charset="-120"/>
              </a:rPr>
              <a:t>The expiry service alerts users before points expire.</a:t>
            </a:r>
            <a:endParaRPr lang="en-US" sz="1200" dirty="0"/>
          </a:p>
        </p:txBody>
      </p:sp>
      <p:sp>
        <p:nvSpPr>
          <p:cNvPr id="24" name="Shape 22"/>
          <p:cNvSpPr/>
          <p:nvPr/>
        </p:nvSpPr>
        <p:spPr>
          <a:xfrm>
            <a:off x="3495675" y="3570864"/>
            <a:ext cx="2520950" cy="1481138"/>
          </a:xfrm>
          <a:prstGeom prst="roundRect">
            <a:avLst>
              <a:gd name="adj" fmla="val 6645"/>
            </a:avLst>
          </a:prstGeom>
          <a:solidFill>
            <a:srgbClr val="F5EAEE"/>
          </a:solidFill>
          <a:ln w="6350">
            <a:solidFill>
              <a:srgbClr val="DEC8D0"/>
            </a:solidFill>
            <a:prstDash val="solid"/>
          </a:ln>
        </p:spPr>
      </p:sp>
      <p:sp>
        <p:nvSpPr>
          <p:cNvPr id="25" name="Text 23"/>
          <p:cNvSpPr/>
          <p:nvPr/>
        </p:nvSpPr>
        <p:spPr>
          <a:xfrm>
            <a:off x="3674918" y="3750109"/>
            <a:ext cx="355600" cy="355600"/>
          </a:xfrm>
          <a:prstGeom prst="roundRect">
            <a:avLst>
              <a:gd name="adj" fmla="val 50000"/>
            </a:avLst>
          </a:prstGeom>
          <a:solidFill>
            <a:srgbClr val="6B3D52"/>
          </a:solidFill>
          <a:ln/>
        </p:spPr>
        <p:txBody>
          <a:bodyPr wrap="square" lIns="0" tIns="0" rIns="0" bIns="0" rtlCol="0" anchor="ctr">
            <a:normAutofit/>
          </a:bodyPr>
          <a:lstStyle/>
          <a:p>
            <a:pPr algn="ctr" indent="0" marL="0">
              <a:lnSpc>
                <a:spcPts val="1400"/>
              </a:lnSpc>
              <a:buNone/>
            </a:pPr>
            <a:r>
              <a:rPr lang="en-US" sz="1400" b="1" dirty="0">
                <a:solidFill>
                  <a:srgbClr val="FBF8F9"/>
                </a:solidFill>
                <a:latin typeface="Roboto" pitchFamily="34" charset="0"/>
                <a:ea typeface="Roboto" pitchFamily="34" charset="-122"/>
                <a:cs typeface="Roboto" pitchFamily="34" charset="-120"/>
              </a:rPr>
              <a:t>6</a:t>
            </a:r>
            <a:endParaRPr lang="en-US" sz="1400" dirty="0"/>
          </a:p>
        </p:txBody>
      </p:sp>
      <p:sp>
        <p:nvSpPr>
          <p:cNvPr id="26" name="Text 24"/>
          <p:cNvSpPr/>
          <p:nvPr/>
        </p:nvSpPr>
        <p:spPr>
          <a:xfrm>
            <a:off x="3674918" y="4169209"/>
            <a:ext cx="2227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B2839"/>
                </a:solidFill>
                <a:latin typeface="Roboto" pitchFamily="34" charset="0"/>
                <a:ea typeface="Roboto" pitchFamily="34" charset="-122"/>
                <a:cs typeface="Roboto" pitchFamily="34" charset="-120"/>
              </a:rPr>
              <a:t>Rank rewards</a:t>
            </a:r>
            <a:endParaRPr lang="en-US" sz="1500" dirty="0"/>
          </a:p>
        </p:txBody>
      </p:sp>
      <p:sp>
        <p:nvSpPr>
          <p:cNvPr id="27" name="Text 25"/>
          <p:cNvSpPr/>
          <p:nvPr/>
        </p:nvSpPr>
        <p:spPr>
          <a:xfrm>
            <a:off x="3674918" y="4461309"/>
            <a:ext cx="2227338" cy="43685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2F33"/>
                </a:solidFill>
                <a:latin typeface="Roboto" pitchFamily="34" charset="0"/>
                <a:ea typeface="Roboto" pitchFamily="34" charset="-122"/>
                <a:cs typeface="Roboto" pitchFamily="34" charset="-120"/>
              </a:rPr>
              <a:t>The reward engine ranks the best uses of the points.</a:t>
            </a:r>
            <a:endParaRPr lang="en-US" sz="1200" dirty="0"/>
          </a:p>
        </p:txBody>
      </p:sp>
      <p:sp>
        <p:nvSpPr>
          <p:cNvPr id="28" name="Shape 26"/>
          <p:cNvSpPr/>
          <p:nvPr/>
        </p:nvSpPr>
        <p:spPr>
          <a:xfrm>
            <a:off x="6175375" y="3570864"/>
            <a:ext cx="2520950" cy="1481138"/>
          </a:xfrm>
          <a:prstGeom prst="roundRect">
            <a:avLst>
              <a:gd name="adj" fmla="val 6645"/>
            </a:avLst>
          </a:prstGeom>
          <a:solidFill>
            <a:srgbClr val="F5EAEE"/>
          </a:solidFill>
          <a:ln w="6350">
            <a:solidFill>
              <a:srgbClr val="DEC8D0"/>
            </a:solidFill>
            <a:prstDash val="solid"/>
          </a:ln>
        </p:spPr>
      </p:sp>
      <p:sp>
        <p:nvSpPr>
          <p:cNvPr id="29" name="Text 27"/>
          <p:cNvSpPr/>
          <p:nvPr/>
        </p:nvSpPr>
        <p:spPr>
          <a:xfrm>
            <a:off x="6354618" y="3750109"/>
            <a:ext cx="355600" cy="355600"/>
          </a:xfrm>
          <a:prstGeom prst="roundRect">
            <a:avLst>
              <a:gd name="adj" fmla="val 50000"/>
            </a:avLst>
          </a:prstGeom>
          <a:solidFill>
            <a:srgbClr val="6B3D52"/>
          </a:solidFill>
          <a:ln/>
        </p:spPr>
        <p:txBody>
          <a:bodyPr wrap="square" lIns="0" tIns="0" rIns="0" bIns="0" rtlCol="0" anchor="ctr">
            <a:normAutofit/>
          </a:bodyPr>
          <a:lstStyle/>
          <a:p>
            <a:pPr algn="ctr" indent="0" marL="0">
              <a:lnSpc>
                <a:spcPts val="1400"/>
              </a:lnSpc>
              <a:buNone/>
            </a:pPr>
            <a:r>
              <a:rPr lang="en-US" sz="1400" b="1" dirty="0">
                <a:solidFill>
                  <a:srgbClr val="FBF8F9"/>
                </a:solidFill>
                <a:latin typeface="Roboto" pitchFamily="34" charset="0"/>
                <a:ea typeface="Roboto" pitchFamily="34" charset="-122"/>
                <a:cs typeface="Roboto" pitchFamily="34" charset="-120"/>
              </a:rPr>
              <a:t>7</a:t>
            </a:r>
            <a:endParaRPr lang="en-US" sz="1400" dirty="0"/>
          </a:p>
        </p:txBody>
      </p:sp>
      <p:sp>
        <p:nvSpPr>
          <p:cNvPr id="30" name="Text 28"/>
          <p:cNvSpPr/>
          <p:nvPr/>
        </p:nvSpPr>
        <p:spPr>
          <a:xfrm>
            <a:off x="6354618" y="4169209"/>
            <a:ext cx="222733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4B2839"/>
                </a:solidFill>
                <a:latin typeface="Roboto" pitchFamily="34" charset="0"/>
                <a:ea typeface="Roboto" pitchFamily="34" charset="-122"/>
                <a:cs typeface="Roboto" pitchFamily="34" charset="-120"/>
              </a:rPr>
              <a:t>Redeem (simulated)</a:t>
            </a:r>
            <a:endParaRPr lang="en-US" sz="1500" dirty="0"/>
          </a:p>
        </p:txBody>
      </p:sp>
      <p:sp>
        <p:nvSpPr>
          <p:cNvPr id="31" name="Text 29"/>
          <p:cNvSpPr/>
          <p:nvPr/>
        </p:nvSpPr>
        <p:spPr>
          <a:xfrm>
            <a:off x="6354618" y="4461309"/>
            <a:ext cx="2227338" cy="43685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2F33"/>
                </a:solidFill>
                <a:latin typeface="Roboto" pitchFamily="34" charset="0"/>
                <a:ea typeface="Roboto" pitchFamily="34" charset="-122"/>
                <a:cs typeface="Roboto" pitchFamily="34" charset="-120"/>
              </a:rPr>
              <a:t>A ledger row is written and the balance updates.</a:t>
            </a:r>
            <a:endParaRPr lang="en-US" sz="1200" dirty="0"/>
          </a:p>
        </p:txBody>
      </p:sp>
      <p:sp>
        <p:nvSpPr>
          <p:cNvPr id="32" name="Shape 30"/>
          <p:cNvSpPr/>
          <p:nvPr/>
        </p:nvSpPr>
        <p:spPr>
          <a:xfrm>
            <a:off x="8851900" y="3567689"/>
            <a:ext cx="2527300" cy="1487488"/>
          </a:xfrm>
          <a:prstGeom prst="roundRect">
            <a:avLst>
              <a:gd name="adj" fmla="val 6830"/>
            </a:avLst>
          </a:prstGeom>
          <a:solidFill>
            <a:srgbClr val="4B2839"/>
          </a:solidFill>
          <a:ln/>
        </p:spPr>
      </p:sp>
      <p:sp>
        <p:nvSpPr>
          <p:cNvPr id="33" name="Text 31"/>
          <p:cNvSpPr/>
          <p:nvPr/>
        </p:nvSpPr>
        <p:spPr>
          <a:xfrm>
            <a:off x="9029700" y="3745489"/>
            <a:ext cx="223685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BF8F9"/>
                </a:solidFill>
                <a:latin typeface="Roboto" pitchFamily="34" charset="0"/>
                <a:ea typeface="Roboto" pitchFamily="34" charset="-122"/>
                <a:cs typeface="Roboto" pitchFamily="34" charset="-120"/>
              </a:rPr>
              <a:t>Background pipeline</a:t>
            </a:r>
            <a:endParaRPr lang="en-US" sz="1500" dirty="0"/>
          </a:p>
        </p:txBody>
      </p:sp>
      <p:sp>
        <p:nvSpPr>
          <p:cNvPr id="34" name="Text 32"/>
          <p:cNvSpPr/>
          <p:nvPr/>
        </p:nvSpPr>
        <p:spPr>
          <a:xfrm>
            <a:off x="9029700" y="4037589"/>
            <a:ext cx="2236851" cy="64257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EBDDE2"/>
                </a:solidFill>
                <a:latin typeface="Roboto" pitchFamily="34" charset="0"/>
                <a:ea typeface="Roboto" pitchFamily="34" charset="-122"/>
                <a:cs typeface="Roboto" pitchFamily="34" charset="-120"/>
              </a:rPr>
              <a:t>Scheduler, queue, connectors, normalizer, PostgreSQL, reward engine, notifier.</a:t>
            </a:r>
            <a:endParaRPr lang="en-US" sz="1200" dirty="0"/>
          </a:p>
        </p:txBody>
      </p:sp>
      <p:sp>
        <p:nvSpPr>
          <p:cNvPr id="35" name="Text 33"/>
          <p:cNvSpPr/>
          <p:nvPr/>
        </p:nvSpPr>
        <p:spPr>
          <a:xfrm>
            <a:off x="812800" y="6238261"/>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36" name="Text 34"/>
          <p:cNvSpPr/>
          <p:nvPr/>
        </p:nvSpPr>
        <p:spPr>
          <a:xfrm>
            <a:off x="10058400" y="6238261"/>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05</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API Routes and Modules</a:t>
            </a:r>
            <a:endParaRPr lang="en-US" sz="3200" dirty="0"/>
          </a:p>
        </p:txBody>
      </p:sp>
      <p:sp>
        <p:nvSpPr>
          <p:cNvPr id="4" name="Text 2"/>
          <p:cNvSpPr/>
          <p:nvPr/>
        </p:nvSpPr>
        <p:spPr>
          <a:xfrm>
            <a:off x="812800" y="1696678"/>
            <a:ext cx="10883392" cy="26540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B2839"/>
                </a:solidFill>
                <a:latin typeface="Roboto" pitchFamily="34" charset="0"/>
                <a:ea typeface="Roboto" pitchFamily="34" charset="-122"/>
                <a:cs typeface="Roboto" pitchFamily="34" charset="-120"/>
              </a:rPr>
              <a:t>Every request passes through the API gateway for authentication and rate limiting.</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45" y="2100627"/>
          <a:ext cx="10554855" cy="2652280"/>
        </p:xfrm>
        <a:graphic>
          <a:graphicData uri="http://schemas.openxmlformats.org/drawingml/2006/table">
            <a:tbl>
              <a:tblPr/>
              <a:tblGrid>
                <a:gridCol w="2110971"/>
                <a:gridCol w="2005422"/>
                <a:gridCol w="2005422"/>
                <a:gridCol w="2216519"/>
                <a:gridCol w="2216519"/>
              </a:tblGrid>
              <a:tr h="331535">
                <a:tc>
                  <a:txBody>
                    <a:bodyPr/>
                    <a:lstStyle/>
                    <a:p>
                      <a:pPr indent="0" marL="0">
                        <a:lnSpc>
                          <a:spcPts val="1680"/>
                        </a:lnSpc>
                        <a:buNone/>
                      </a:pPr>
                      <a:r>
                        <a:rPr lang="en-US" sz="1200" b="1" dirty="0">
                          <a:solidFill>
                            <a:srgbClr val="FBF8F9"/>
                          </a:solidFill>
                          <a:latin typeface="Roboto" pitchFamily="34" charset="0"/>
                          <a:ea typeface="Roboto" pitchFamily="34" charset="-122"/>
                          <a:cs typeface="Roboto" pitchFamily="34" charset="-120"/>
                        </a:rPr>
                        <a:t>Route</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680"/>
                        </a:lnSpc>
                        <a:buNone/>
                      </a:pPr>
                      <a:r>
                        <a:rPr lang="en-US" sz="1200" b="1" dirty="0">
                          <a:solidFill>
                            <a:srgbClr val="FBF8F9"/>
                          </a:solidFill>
                          <a:latin typeface="Roboto" pitchFamily="34" charset="0"/>
                          <a:ea typeface="Roboto" pitchFamily="34" charset="-122"/>
                          <a:cs typeface="Roboto" pitchFamily="34" charset="-120"/>
                        </a:rPr>
                        <a:t>Service</a:t>
                      </a:r>
                      <a:endParaRPr lang="en-US" sz="1200" dirty="0">
                        <a:latin typeface="Roboto" charset="0"/>
                        <a:ea typeface="Roboto" charset="0"/>
                        <a:cs typeface="Roboto" charset="0"/>
                      </a:endParaRPr>
                    </a:p>
                  </a:txBody>
                  <a:tcPr marL="53340" marR="53340" marT="53340" marB="53340"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680"/>
                        </a:lnSpc>
                        <a:buNone/>
                      </a:pPr>
                      <a:r>
                        <a:rPr lang="en-US" sz="1200" b="1" dirty="0">
                          <a:solidFill>
                            <a:srgbClr val="FBF8F9"/>
                          </a:solidFill>
                          <a:latin typeface="Roboto" pitchFamily="34" charset="0"/>
                          <a:ea typeface="Roboto" pitchFamily="34" charset="-122"/>
                          <a:cs typeface="Roboto" pitchFamily="34" charset="-120"/>
                        </a:rPr>
                        <a:t>Logic or AI</a:t>
                      </a:r>
                      <a:endParaRPr lang="en-US" sz="1200" dirty="0">
                        <a:latin typeface="Roboto" charset="0"/>
                        <a:ea typeface="Roboto" charset="0"/>
                        <a:cs typeface="Roboto" charset="0"/>
                      </a:endParaRPr>
                    </a:p>
                  </a:txBody>
                  <a:tcPr marL="53340" marR="53340" marT="53340" marB="53340"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680"/>
                        </a:lnSpc>
                        <a:buNone/>
                      </a:pPr>
                      <a:r>
                        <a:rPr lang="en-US" sz="1200" b="1" dirty="0">
                          <a:solidFill>
                            <a:srgbClr val="FBF8F9"/>
                          </a:solidFill>
                          <a:latin typeface="Roboto" pitchFamily="34" charset="0"/>
                          <a:ea typeface="Roboto" pitchFamily="34" charset="-122"/>
                          <a:cs typeface="Roboto" pitchFamily="34" charset="-120"/>
                        </a:rPr>
                        <a:t>Database</a:t>
                      </a:r>
                      <a:endParaRPr lang="en-US" sz="1200" dirty="0">
                        <a:latin typeface="Roboto" charset="0"/>
                        <a:ea typeface="Roboto" charset="0"/>
                        <a:cs typeface="Roboto" charset="0"/>
                      </a:endParaRPr>
                    </a:p>
                  </a:txBody>
                  <a:tcPr marL="53340" marR="53340" marT="53340" marB="53340"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c>
                  <a:txBody>
                    <a:bodyPr/>
                    <a:lstStyle/>
                    <a:p>
                      <a:pPr indent="0" marL="0">
                        <a:lnSpc>
                          <a:spcPts val="1680"/>
                        </a:lnSpc>
                        <a:buNone/>
                      </a:pPr>
                      <a:r>
                        <a:rPr lang="en-US" sz="1200" b="1" dirty="0">
                          <a:solidFill>
                            <a:srgbClr val="FBF8F9"/>
                          </a:solidFill>
                          <a:latin typeface="Roboto" pitchFamily="34" charset="0"/>
                          <a:ea typeface="Roboto" pitchFamily="34" charset="-122"/>
                          <a:cs typeface="Roboto" pitchFamily="34" charset="-120"/>
                        </a:rPr>
                        <a:t>Response</a:t>
                      </a:r>
                      <a:endParaRPr lang="en-US" sz="1200" dirty="0">
                        <a:latin typeface="Roboto" charset="0"/>
                        <a:ea typeface="Roboto" charset="0"/>
                        <a:cs typeface="Roboto" charset="0"/>
                      </a:endParaRPr>
                    </a:p>
                  </a:txBody>
                  <a:tcPr marL="53340" marR="53340" marT="53340" marB="53340" anchor="t">
                    <a:lnL w="12700" cap="flat" cmpd="sng" algn="ctr">
                      <a:solidFill>
                        <a:srgbClr val="3F2431"/>
                      </a:solidFill>
                      <a:prstDash val="solid"/>
                      <a:round/>
                      <a:headEnd type="none" w="med" len="med"/>
                      <a:tailEnd type="none" w="med" len="med"/>
                    </a:lnL>
                    <a:lnR w="12700" cap="flat" cmpd="sng" algn="ctr">
                      <a:solidFill>
                        <a:srgbClr val="3F2431"/>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3F2431"/>
                      </a:solidFill>
                      <a:prstDash val="solid"/>
                      <a:round/>
                      <a:headEnd type="none" w="med" len="med"/>
                      <a:tailEnd type="none" w="med" len="med"/>
                    </a:lnB>
                    <a:solidFill>
                      <a:srgbClr val="4B2839"/>
                    </a:solidFill>
                  </a:tcPr>
                </a:tc>
              </a:tr>
              <a:tr h="331535">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POST /auth/login</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Auth service</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none</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users</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JWT token</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3F2431"/>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331535">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POST /accounts/link</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Connector adapter</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none</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linked_accounts</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Link status</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r h="331535">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POST /sync (scheduled)</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Connectors, normalizer</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Normalization rules</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balances, transactions</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Sync status</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331535">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GET /wallet</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Wallet service</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Value comparison</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balances, programs</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All balances in one view</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r h="331535">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GET /expiry</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Expiry service</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Expiry prioritization</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point_balances</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Points expiring soon</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r h="331535">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GET /recommendations</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Reward service</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Scoring and recommender</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rewards, redemptions</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Ranked rewards, reasons</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8C6C6"/>
                      </a:solidFill>
                      <a:prstDash val="solid"/>
                      <a:round/>
                      <a:headEnd type="none" w="med" len="med"/>
                      <a:tailEnd type="none" w="med" len="med"/>
                    </a:lnR>
                    <a:lnT w="12700" cap="flat" cmpd="sng" algn="ctr">
                      <a:solidFill>
                        <a:srgbClr val="C4BBBE"/>
                      </a:solidFill>
                      <a:prstDash val="solid"/>
                      <a:round/>
                      <a:headEnd type="none" w="med" len="med"/>
                      <a:tailEnd type="none" w="med" len="med"/>
                    </a:lnT>
                    <a:lnB w="12700" cap="flat" cmpd="sng" algn="ctr">
                      <a:solidFill>
                        <a:srgbClr val="C8C6C6"/>
                      </a:solidFill>
                      <a:prstDash val="solid"/>
                      <a:round/>
                      <a:headEnd type="none" w="med" len="med"/>
                      <a:tailEnd type="none" w="med" len="med"/>
                    </a:lnB>
                  </a:tcPr>
                </a:tc>
              </a:tr>
              <a:tr h="331535">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POST /redeem (simulated)</a:t>
                      </a:r>
                      <a:endParaRPr lang="en-US" sz="1200" dirty="0">
                        <a:latin typeface="Roboto" charset="0"/>
                        <a:ea typeface="Roboto" charset="0"/>
                        <a:cs typeface="Roboto" charset="0"/>
                      </a:endParaRPr>
                    </a:p>
                  </a:txBody>
                  <a:tcPr marL="53340" marR="53340" marT="53340" marB="53340" anchor="t">
                    <a:lnL w="12700" cap="flat" cmpd="sng" algn="ctr">
                      <a:solidFill>
                        <a:srgbClr val="C8C6C6"/>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Redemption service</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none</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transactions, redemptions</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c>
                  <a:txBody>
                    <a:bodyPr/>
                    <a:lstStyle/>
                    <a:p>
                      <a:pPr indent="0" marL="0">
                        <a:lnSpc>
                          <a:spcPts val="1680"/>
                        </a:lnSpc>
                        <a:buNone/>
                      </a:pPr>
                      <a:r>
                        <a:rPr lang="en-US" sz="1200" dirty="0">
                          <a:solidFill>
                            <a:srgbClr val="3A2F33"/>
                          </a:solidFill>
                          <a:latin typeface="Roboto" pitchFamily="34" charset="0"/>
                          <a:ea typeface="Roboto" pitchFamily="34" charset="-122"/>
                          <a:cs typeface="Roboto" pitchFamily="34" charset="-120"/>
                        </a:rPr>
                        <a:t>Confirmation, new balance</a:t>
                      </a:r>
                      <a:endParaRPr lang="en-US" sz="1200" dirty="0">
                        <a:latin typeface="Roboto" charset="0"/>
                        <a:ea typeface="Roboto" charset="0"/>
                        <a:cs typeface="Roboto" charset="0"/>
                      </a:endParaRPr>
                    </a:p>
                  </a:txBody>
                  <a:tcPr marL="53340" marR="53340" marT="53340" marB="53340" anchor="t">
                    <a:lnL w="12700" cap="flat" cmpd="sng" algn="ctr">
                      <a:solidFill>
                        <a:srgbClr val="C4BBBE"/>
                      </a:solidFill>
                      <a:prstDash val="solid"/>
                      <a:round/>
                      <a:headEnd type="none" w="med" len="med"/>
                      <a:tailEnd type="none" w="med" len="med"/>
                    </a:lnL>
                    <a:lnR w="12700" cap="flat" cmpd="sng" algn="ctr">
                      <a:solidFill>
                        <a:srgbClr val="C4BBBE"/>
                      </a:solidFill>
                      <a:prstDash val="solid"/>
                      <a:round/>
                      <a:headEnd type="none" w="med" len="med"/>
                      <a:tailEnd type="none" w="med" len="med"/>
                    </a:lnR>
                    <a:lnT w="12700" cap="flat" cmpd="sng" algn="ctr">
                      <a:solidFill>
                        <a:srgbClr val="C8C6C6"/>
                      </a:solidFill>
                      <a:prstDash val="solid"/>
                      <a:round/>
                      <a:headEnd type="none" w="med" len="med"/>
                      <a:tailEnd type="none" w="med" len="med"/>
                    </a:lnT>
                    <a:lnB w="12700" cap="flat" cmpd="sng" algn="ctr">
                      <a:solidFill>
                        <a:srgbClr val="C4BBBE"/>
                      </a:solidFill>
                      <a:prstDash val="solid"/>
                      <a:round/>
                      <a:headEnd type="none" w="med" len="med"/>
                      <a:tailEnd type="none" w="med" len="med"/>
                    </a:lnB>
                    <a:solidFill>
                      <a:srgbClr val="F5EAEE"/>
                    </a:solidFill>
                  </a:tcPr>
                </a:tc>
              </a:tr>
            </a:tbl>
          </a:graphicData>
        </a:graphic>
      </p:graphicFrame>
      <p:sp>
        <p:nvSpPr>
          <p:cNvPr id="6" name="Text 3"/>
          <p:cNvSpPr/>
          <p:nvPr/>
        </p:nvSpPr>
        <p:spPr>
          <a:xfrm>
            <a:off x="812800" y="6238261"/>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7" name="Text 4"/>
          <p:cNvSpPr/>
          <p:nvPr/>
        </p:nvSpPr>
        <p:spPr>
          <a:xfrm>
            <a:off x="10058400" y="6238261"/>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9"/>
        </a:solidFill>
      </p:bgPr>
    </p:bg>
    <p:spTree>
      <p:nvGrpSpPr>
        <p:cNvPr id="1" name=""/>
        <p:cNvGrpSpPr/>
        <p:nvPr/>
      </p:nvGrpSpPr>
      <p:grpSpPr>
        <a:xfrm>
          <a:off x="0" y="0"/>
          <a:ext cx="0" cy="0"/>
          <a:chOff x="0" y="0"/>
          <a:chExt cx="0" cy="0"/>
        </a:xfrm>
      </p:grpSpPr>
      <p:sp>
        <p:nvSpPr>
          <p:cNvPr id="2" name="Shape 0"/>
          <p:cNvSpPr/>
          <p:nvPr/>
        </p:nvSpPr>
        <p:spPr>
          <a:xfrm>
            <a:off x="2546350" y="1593850"/>
            <a:ext cx="7099300" cy="4178300"/>
          </a:xfrm>
          <a:prstGeom prst="roundRect">
            <a:avLst>
              <a:gd name="adj" fmla="val 3495"/>
            </a:avLst>
          </a:prstGeom>
          <a:solidFill>
            <a:srgbClr val="F5EAEE"/>
          </a:solidFill>
          <a:ln w="12700">
            <a:solidFill>
              <a:srgbClr val="8B5068"/>
            </a:solidFill>
            <a:prstDash val="dash"/>
          </a:ln>
        </p:spPr>
      </p:sp>
      <p:sp>
        <p:nvSpPr>
          <p:cNvPr id="3" name="Text 1"/>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05</a:t>
            </a:r>
            <a:endParaRPr lang="en-US" sz="1200" dirty="0"/>
          </a:p>
        </p:txBody>
      </p:sp>
      <p:sp>
        <p:nvSpPr>
          <p:cNvPr id="4" name="Text 2"/>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UML Use Case Diagram</a:t>
            </a:r>
            <a:endParaRPr lang="en-US" sz="3200" dirty="0"/>
          </a:p>
        </p:txBody>
      </p:sp>
      <p:sp>
        <p:nvSpPr>
          <p:cNvPr id="5" name="Text 3"/>
          <p:cNvSpPr/>
          <p:nvPr/>
        </p:nvSpPr>
        <p:spPr>
          <a:xfrm>
            <a:off x="6800850" y="1079500"/>
            <a:ext cx="457835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Teal = automated background use cases</a:t>
            </a:r>
            <a:endParaRPr lang="en-US" sz="1200" dirty="0"/>
          </a:p>
        </p:txBody>
      </p:sp>
      <p:sp>
        <p:nvSpPr>
          <p:cNvPr id="6" name="Text 4"/>
          <p:cNvSpPr/>
          <p:nvPr/>
        </p:nvSpPr>
        <p:spPr>
          <a:xfrm>
            <a:off x="2743200" y="1663700"/>
            <a:ext cx="52324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5068"/>
                </a:solidFill>
                <a:latin typeface="Roboto" pitchFamily="34" charset="0"/>
                <a:ea typeface="Roboto" pitchFamily="34" charset="-122"/>
                <a:cs typeface="Roboto" pitchFamily="34" charset="-120"/>
              </a:rPr>
              <a:t>Loyalty Aggregation Platform</a:t>
            </a:r>
            <a:endParaRPr lang="en-US" sz="1200" dirty="0"/>
          </a:p>
        </p:txBody>
      </p:sp>
      <p:pic>
        <p:nvPicPr>
          <p:cNvPr id="7" name="Image 0" descr="connector">    </p:cNvPr>
          <p:cNvPicPr>
            <a:picLocks noChangeAspect="1"/>
          </p:cNvPicPr>
          <p:nvPr/>
        </p:nvPicPr>
        <p:blipFill>
          <a:blip r:embed="rId1"/>
          <a:srcRect l="0" r="0" t="0" b="0"/>
          <a:stretch/>
        </p:blipFill>
        <p:spPr>
          <a:xfrm>
            <a:off x="2298700" y="2184400"/>
            <a:ext cx="596900" cy="1695450"/>
          </a:xfrm>
          <a:prstGeom prst="rect">
            <a:avLst/>
          </a:prstGeom>
        </p:spPr>
      </p:pic>
      <p:pic>
        <p:nvPicPr>
          <p:cNvPr id="8" name="Image 1" descr="connector">    </p:cNvPr>
          <p:cNvPicPr>
            <a:picLocks noChangeAspect="1"/>
          </p:cNvPicPr>
          <p:nvPr/>
        </p:nvPicPr>
        <p:blipFill>
          <a:blip r:embed="rId2"/>
          <a:srcRect l="0" r="0" t="0" b="0"/>
          <a:stretch/>
        </p:blipFill>
        <p:spPr>
          <a:xfrm>
            <a:off x="2298700" y="2832100"/>
            <a:ext cx="596900" cy="1047750"/>
          </a:xfrm>
          <a:prstGeom prst="rect">
            <a:avLst/>
          </a:prstGeom>
        </p:spPr>
      </p:pic>
      <p:pic>
        <p:nvPicPr>
          <p:cNvPr id="9" name="Image 2" descr="connector">    </p:cNvPr>
          <p:cNvPicPr>
            <a:picLocks noChangeAspect="1"/>
          </p:cNvPicPr>
          <p:nvPr/>
        </p:nvPicPr>
        <p:blipFill>
          <a:blip r:embed="rId3"/>
          <a:srcRect l="0" r="0" t="0" b="0"/>
          <a:stretch/>
        </p:blipFill>
        <p:spPr>
          <a:xfrm>
            <a:off x="2298700" y="3479800"/>
            <a:ext cx="596900" cy="400050"/>
          </a:xfrm>
          <a:prstGeom prst="rect">
            <a:avLst/>
          </a:prstGeom>
        </p:spPr>
      </p:pic>
      <p:pic>
        <p:nvPicPr>
          <p:cNvPr id="10" name="Image 3" descr="connector">    </p:cNvPr>
          <p:cNvPicPr>
            <a:picLocks noChangeAspect="1"/>
          </p:cNvPicPr>
          <p:nvPr/>
        </p:nvPicPr>
        <p:blipFill>
          <a:blip r:embed="rId4"/>
          <a:srcRect l="0" r="0" t="0" b="0"/>
          <a:stretch/>
        </p:blipFill>
        <p:spPr>
          <a:xfrm>
            <a:off x="2298700" y="3803650"/>
            <a:ext cx="596900" cy="400050"/>
          </a:xfrm>
          <a:prstGeom prst="rect">
            <a:avLst/>
          </a:prstGeom>
        </p:spPr>
      </p:pic>
      <p:pic>
        <p:nvPicPr>
          <p:cNvPr id="11" name="Image 4" descr="connector">    </p:cNvPr>
          <p:cNvPicPr>
            <a:picLocks noChangeAspect="1"/>
          </p:cNvPicPr>
          <p:nvPr/>
        </p:nvPicPr>
        <p:blipFill>
          <a:blip r:embed="rId5"/>
          <a:srcRect l="0" r="0" t="0" b="0"/>
          <a:stretch/>
        </p:blipFill>
        <p:spPr>
          <a:xfrm>
            <a:off x="2298700" y="3803650"/>
            <a:ext cx="596900" cy="1047750"/>
          </a:xfrm>
          <a:prstGeom prst="rect">
            <a:avLst/>
          </a:prstGeom>
        </p:spPr>
      </p:pic>
      <p:pic>
        <p:nvPicPr>
          <p:cNvPr id="12" name="Image 5" descr="connector">    </p:cNvPr>
          <p:cNvPicPr>
            <a:picLocks noChangeAspect="1"/>
          </p:cNvPicPr>
          <p:nvPr/>
        </p:nvPicPr>
        <p:blipFill>
          <a:blip r:embed="rId6"/>
          <a:srcRect l="0" r="0" t="0" b="0"/>
          <a:stretch/>
        </p:blipFill>
        <p:spPr>
          <a:xfrm>
            <a:off x="2298700" y="3803650"/>
            <a:ext cx="596900" cy="1695450"/>
          </a:xfrm>
          <a:prstGeom prst="rect">
            <a:avLst/>
          </a:prstGeom>
        </p:spPr>
      </p:pic>
      <p:pic>
        <p:nvPicPr>
          <p:cNvPr id="13" name="Image 6" descr="connector">    </p:cNvPr>
          <p:cNvPicPr>
            <a:picLocks noChangeAspect="1"/>
          </p:cNvPicPr>
          <p:nvPr/>
        </p:nvPicPr>
        <p:blipFill>
          <a:blip r:embed="rId7"/>
          <a:srcRect l="0" r="0" t="0" b="0"/>
          <a:stretch/>
        </p:blipFill>
        <p:spPr>
          <a:xfrm>
            <a:off x="9220200" y="3136900"/>
            <a:ext cx="673100" cy="381000"/>
          </a:xfrm>
          <a:prstGeom prst="rect">
            <a:avLst/>
          </a:prstGeom>
        </p:spPr>
      </p:pic>
      <p:pic>
        <p:nvPicPr>
          <p:cNvPr id="14" name="Image 7" descr="connector">    </p:cNvPr>
          <p:cNvPicPr>
            <a:picLocks noChangeAspect="1"/>
          </p:cNvPicPr>
          <p:nvPr/>
        </p:nvPicPr>
        <p:blipFill>
          <a:blip r:embed="rId8"/>
          <a:srcRect l="0" r="0" t="0" b="0"/>
          <a:stretch/>
        </p:blipFill>
        <p:spPr>
          <a:xfrm>
            <a:off x="9220200" y="3517900"/>
            <a:ext cx="673100" cy="901700"/>
          </a:xfrm>
          <a:prstGeom prst="rect">
            <a:avLst/>
          </a:prstGeom>
        </p:spPr>
      </p:pic>
      <p:pic>
        <p:nvPicPr>
          <p:cNvPr id="15" name="Image 8" descr="connector">    </p:cNvPr>
          <p:cNvPicPr>
            <a:picLocks noChangeAspect="1"/>
          </p:cNvPicPr>
          <p:nvPr/>
        </p:nvPicPr>
        <p:blipFill>
          <a:blip r:embed="rId9"/>
          <a:srcRect l="0" r="0" t="0" b="0"/>
          <a:stretch/>
        </p:blipFill>
        <p:spPr>
          <a:xfrm>
            <a:off x="9232900" y="4775200"/>
            <a:ext cx="660400" cy="76200"/>
          </a:xfrm>
          <a:prstGeom prst="rect">
            <a:avLst/>
          </a:prstGeom>
        </p:spPr>
      </p:pic>
      <p:sp>
        <p:nvSpPr>
          <p:cNvPr id="16" name="Text 5"/>
          <p:cNvSpPr/>
          <p:nvPr/>
        </p:nvSpPr>
        <p:spPr>
          <a:xfrm>
            <a:off x="2863850" y="1974850"/>
            <a:ext cx="2908300" cy="495300"/>
          </a:xfrm>
          <a:prstGeom prst="roundRect">
            <a:avLst>
              <a:gd name="adj" fmla="val 50000"/>
            </a:avLst>
          </a:prstGeom>
          <a:solidFill>
            <a:srgbClr val="FBF8F9"/>
          </a:solidFill>
          <a:ln w="12700">
            <a:solidFill>
              <a:srgbClr val="6B3D52"/>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Register / log in</a:t>
            </a:r>
            <a:endParaRPr lang="en-US" sz="1300" dirty="0"/>
          </a:p>
        </p:txBody>
      </p:sp>
      <p:sp>
        <p:nvSpPr>
          <p:cNvPr id="17" name="Text 6"/>
          <p:cNvSpPr/>
          <p:nvPr/>
        </p:nvSpPr>
        <p:spPr>
          <a:xfrm>
            <a:off x="2863850" y="2622550"/>
            <a:ext cx="2908300" cy="495300"/>
          </a:xfrm>
          <a:prstGeom prst="roundRect">
            <a:avLst>
              <a:gd name="adj" fmla="val 50000"/>
            </a:avLst>
          </a:prstGeom>
          <a:solidFill>
            <a:srgbClr val="FBF8F9"/>
          </a:solidFill>
          <a:ln w="12700">
            <a:solidFill>
              <a:srgbClr val="6B3D52"/>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Link loyalty account</a:t>
            </a:r>
            <a:endParaRPr lang="en-US" sz="1300" dirty="0"/>
          </a:p>
        </p:txBody>
      </p:sp>
      <p:sp>
        <p:nvSpPr>
          <p:cNvPr id="18" name="Text 7"/>
          <p:cNvSpPr/>
          <p:nvPr/>
        </p:nvSpPr>
        <p:spPr>
          <a:xfrm>
            <a:off x="2863850" y="3270250"/>
            <a:ext cx="2908300" cy="495300"/>
          </a:xfrm>
          <a:prstGeom prst="roundRect">
            <a:avLst>
              <a:gd name="adj" fmla="val 50000"/>
            </a:avLst>
          </a:prstGeom>
          <a:solidFill>
            <a:srgbClr val="FBF8F9"/>
          </a:solidFill>
          <a:ln w="12700">
            <a:solidFill>
              <a:srgbClr val="6B3D52"/>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View wallet dashboard</a:t>
            </a:r>
            <a:endParaRPr lang="en-US" sz="1300" dirty="0"/>
          </a:p>
        </p:txBody>
      </p:sp>
      <p:sp>
        <p:nvSpPr>
          <p:cNvPr id="19" name="Text 8"/>
          <p:cNvSpPr/>
          <p:nvPr/>
        </p:nvSpPr>
        <p:spPr>
          <a:xfrm>
            <a:off x="2863850" y="3917950"/>
            <a:ext cx="2908300" cy="495300"/>
          </a:xfrm>
          <a:prstGeom prst="roundRect">
            <a:avLst>
              <a:gd name="adj" fmla="val 50000"/>
            </a:avLst>
          </a:prstGeom>
          <a:solidFill>
            <a:srgbClr val="FBF8F9"/>
          </a:solidFill>
          <a:ln w="12700">
            <a:solidFill>
              <a:srgbClr val="6B3D52"/>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View expiry alerts</a:t>
            </a:r>
            <a:endParaRPr lang="en-US" sz="1300" dirty="0"/>
          </a:p>
        </p:txBody>
      </p:sp>
      <p:sp>
        <p:nvSpPr>
          <p:cNvPr id="20" name="Text 9"/>
          <p:cNvSpPr/>
          <p:nvPr/>
        </p:nvSpPr>
        <p:spPr>
          <a:xfrm>
            <a:off x="2863850" y="4565650"/>
            <a:ext cx="2908300" cy="495300"/>
          </a:xfrm>
          <a:prstGeom prst="roundRect">
            <a:avLst>
              <a:gd name="adj" fmla="val 50000"/>
            </a:avLst>
          </a:prstGeom>
          <a:solidFill>
            <a:srgbClr val="FBF8F9"/>
          </a:solidFill>
          <a:ln w="12700">
            <a:solidFill>
              <a:srgbClr val="6B3D52"/>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View ranked rewards</a:t>
            </a:r>
            <a:endParaRPr lang="en-US" sz="1300" dirty="0"/>
          </a:p>
        </p:txBody>
      </p:sp>
      <p:sp>
        <p:nvSpPr>
          <p:cNvPr id="21" name="Text 10"/>
          <p:cNvSpPr/>
          <p:nvPr/>
        </p:nvSpPr>
        <p:spPr>
          <a:xfrm>
            <a:off x="2863850" y="5213350"/>
            <a:ext cx="2908300" cy="495300"/>
          </a:xfrm>
          <a:prstGeom prst="roundRect">
            <a:avLst>
              <a:gd name="adj" fmla="val 50000"/>
            </a:avLst>
          </a:prstGeom>
          <a:solidFill>
            <a:srgbClr val="FBF8F9"/>
          </a:solidFill>
          <a:ln w="12700">
            <a:solidFill>
              <a:srgbClr val="6B3D52"/>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Redeem reward (simulated)</a:t>
            </a:r>
            <a:endParaRPr lang="en-US" sz="1300" dirty="0"/>
          </a:p>
        </p:txBody>
      </p:sp>
      <p:sp>
        <p:nvSpPr>
          <p:cNvPr id="22" name="Text 11"/>
          <p:cNvSpPr/>
          <p:nvPr/>
        </p:nvSpPr>
        <p:spPr>
          <a:xfrm>
            <a:off x="6356350" y="3270250"/>
            <a:ext cx="2908300" cy="495300"/>
          </a:xfrm>
          <a:prstGeom prst="roundRect">
            <a:avLst>
              <a:gd name="adj" fmla="val 50000"/>
            </a:avLst>
          </a:prstGeom>
          <a:solidFill>
            <a:srgbClr val="E6F1EF"/>
          </a:solidFill>
          <a:ln w="12700">
            <a:solidFill>
              <a:srgbClr val="2F6F6A"/>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Sync and normalize balances</a:t>
            </a:r>
            <a:endParaRPr lang="en-US" sz="1300" dirty="0"/>
          </a:p>
        </p:txBody>
      </p:sp>
      <p:sp>
        <p:nvSpPr>
          <p:cNvPr id="23" name="Text 12"/>
          <p:cNvSpPr/>
          <p:nvPr/>
        </p:nvSpPr>
        <p:spPr>
          <a:xfrm>
            <a:off x="6356350" y="4565650"/>
            <a:ext cx="2908300" cy="495300"/>
          </a:xfrm>
          <a:prstGeom prst="roundRect">
            <a:avLst>
              <a:gd name="adj" fmla="val 50000"/>
            </a:avLst>
          </a:prstGeom>
          <a:solidFill>
            <a:srgbClr val="E6F1EF"/>
          </a:solidFill>
          <a:ln w="12700">
            <a:solidFill>
              <a:srgbClr val="2F6F6A"/>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Send expiry alerts</a:t>
            </a:r>
            <a:endParaRPr lang="en-US" sz="1300" dirty="0"/>
          </a:p>
        </p:txBody>
      </p:sp>
      <p:sp>
        <p:nvSpPr>
          <p:cNvPr id="24" name="Shape 13"/>
          <p:cNvSpPr/>
          <p:nvPr/>
        </p:nvSpPr>
        <p:spPr>
          <a:xfrm>
            <a:off x="815975" y="3273425"/>
            <a:ext cx="1517650" cy="1136650"/>
          </a:xfrm>
          <a:prstGeom prst="roundRect">
            <a:avLst>
              <a:gd name="adj" fmla="val 8659"/>
            </a:avLst>
          </a:prstGeom>
          <a:solidFill>
            <a:srgbClr val="E8E4E6"/>
          </a:solidFill>
          <a:ln w="6350">
            <a:solidFill>
              <a:srgbClr val="CFC8CB"/>
            </a:solidFill>
            <a:prstDash val="solid"/>
          </a:ln>
        </p:spPr>
      </p:sp>
      <p:pic>
        <p:nvPicPr>
          <p:cNvPr id="25" name="Image 9" descr="Users">    </p:cNvPr>
          <p:cNvPicPr>
            <a:picLocks noChangeAspect="1"/>
          </p:cNvPicPr>
          <p:nvPr/>
        </p:nvPicPr>
        <p:blipFill>
          <a:blip r:embed="rId10"/>
          <a:srcRect l="0" r="0" t="0" b="0"/>
          <a:stretch/>
        </p:blipFill>
        <p:spPr>
          <a:xfrm>
            <a:off x="1397000" y="3407426"/>
            <a:ext cx="355600" cy="355600"/>
          </a:xfrm>
          <a:prstGeom prst="rect">
            <a:avLst/>
          </a:prstGeom>
        </p:spPr>
      </p:pic>
      <p:sp>
        <p:nvSpPr>
          <p:cNvPr id="26" name="Text 14"/>
          <p:cNvSpPr/>
          <p:nvPr/>
        </p:nvSpPr>
        <p:spPr>
          <a:xfrm>
            <a:off x="1352997" y="3813826"/>
            <a:ext cx="443605"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3A2F33"/>
                </a:solidFill>
                <a:latin typeface="Roboto" pitchFamily="34" charset="0"/>
                <a:ea typeface="Roboto" pitchFamily="34" charset="-122"/>
                <a:cs typeface="Roboto" pitchFamily="34" charset="-120"/>
              </a:rPr>
              <a:t>User</a:t>
            </a:r>
            <a:endParaRPr lang="en-US" sz="1400" dirty="0"/>
          </a:p>
        </p:txBody>
      </p:sp>
      <p:sp>
        <p:nvSpPr>
          <p:cNvPr id="27" name="Text 15"/>
          <p:cNvSpPr/>
          <p:nvPr/>
        </p:nvSpPr>
        <p:spPr>
          <a:xfrm>
            <a:off x="1188478" y="4077965"/>
            <a:ext cx="772607"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3F44"/>
                </a:solidFill>
                <a:latin typeface="Roboto" pitchFamily="34" charset="0"/>
                <a:ea typeface="Roboto" pitchFamily="34" charset="-122"/>
                <a:cs typeface="Roboto" pitchFamily="34" charset="-120"/>
              </a:rPr>
              <a:t>customer</a:t>
            </a:r>
            <a:endParaRPr lang="en-US" sz="1200" dirty="0"/>
          </a:p>
        </p:txBody>
      </p:sp>
      <p:sp>
        <p:nvSpPr>
          <p:cNvPr id="28" name="Shape 16"/>
          <p:cNvSpPr/>
          <p:nvPr/>
        </p:nvSpPr>
        <p:spPr>
          <a:xfrm>
            <a:off x="9858375" y="2162175"/>
            <a:ext cx="1517650" cy="1263650"/>
          </a:xfrm>
          <a:prstGeom prst="roundRect">
            <a:avLst>
              <a:gd name="adj" fmla="val 7789"/>
            </a:avLst>
          </a:prstGeom>
          <a:solidFill>
            <a:srgbClr val="E8E4E6"/>
          </a:solidFill>
          <a:ln w="6350">
            <a:solidFill>
              <a:srgbClr val="CFC8CB"/>
            </a:solidFill>
            <a:prstDash val="solid"/>
          </a:ln>
        </p:spPr>
      </p:sp>
      <p:pic>
        <p:nvPicPr>
          <p:cNvPr id="29" name="Image 10" descr="Globe">    </p:cNvPr>
          <p:cNvPicPr>
            <a:picLocks noChangeAspect="1"/>
          </p:cNvPicPr>
          <p:nvPr/>
        </p:nvPicPr>
        <p:blipFill>
          <a:blip r:embed="rId11"/>
          <a:srcRect l="0" r="0" t="0" b="0"/>
          <a:stretch/>
        </p:blipFill>
        <p:spPr>
          <a:xfrm>
            <a:off x="10439400" y="2367291"/>
            <a:ext cx="355600" cy="355600"/>
          </a:xfrm>
          <a:prstGeom prst="rect">
            <a:avLst/>
          </a:prstGeom>
        </p:spPr>
      </p:pic>
      <p:sp>
        <p:nvSpPr>
          <p:cNvPr id="30" name="Text 17"/>
          <p:cNvSpPr/>
          <p:nvPr/>
        </p:nvSpPr>
        <p:spPr>
          <a:xfrm>
            <a:off x="9861550" y="2773691"/>
            <a:ext cx="1511300" cy="223513"/>
          </a:xfrm>
          <a:prstGeom prst="rect">
            <a:avLst/>
          </a:prstGeom>
          <a:noFill/>
          <a:ln/>
        </p:spPr>
        <p:txBody>
          <a:bodyPr wrap="square" lIns="0" tIns="0" rIns="0" bIns="0" rtlCol="0" anchor="t">
            <a:normAutofit/>
          </a:bodyPr>
          <a:lstStyle/>
          <a:p>
            <a:pPr algn="ctr" indent="0" marL="0">
              <a:lnSpc>
                <a:spcPts val="1560"/>
              </a:lnSpc>
              <a:buNone/>
            </a:pPr>
            <a:r>
              <a:rPr lang="en-US" sz="1300" b="1" dirty="0">
                <a:solidFill>
                  <a:srgbClr val="3A2F33"/>
                </a:solidFill>
                <a:latin typeface="Roboto" pitchFamily="34" charset="0"/>
                <a:ea typeface="Roboto" pitchFamily="34" charset="-122"/>
                <a:cs typeface="Roboto" pitchFamily="34" charset="-120"/>
              </a:rPr>
              <a:t>Loyalty programs</a:t>
            </a:r>
            <a:endParaRPr lang="en-US" sz="1300" dirty="0"/>
          </a:p>
        </p:txBody>
      </p:sp>
      <p:sp>
        <p:nvSpPr>
          <p:cNvPr id="31" name="Text 18"/>
          <p:cNvSpPr/>
          <p:nvPr/>
        </p:nvSpPr>
        <p:spPr>
          <a:xfrm>
            <a:off x="10003141" y="3022600"/>
            <a:ext cx="1228119"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3F44"/>
                </a:solidFill>
                <a:latin typeface="Roboto" pitchFamily="34" charset="0"/>
                <a:ea typeface="Roboto" pitchFamily="34" charset="-122"/>
                <a:cs typeface="Roboto" pitchFamily="34" charset="-120"/>
              </a:rPr>
              <a:t>simulated APIs</a:t>
            </a:r>
            <a:endParaRPr lang="en-US" sz="1200" dirty="0"/>
          </a:p>
        </p:txBody>
      </p:sp>
      <p:sp>
        <p:nvSpPr>
          <p:cNvPr id="32" name="Shape 19"/>
          <p:cNvSpPr/>
          <p:nvPr/>
        </p:nvSpPr>
        <p:spPr>
          <a:xfrm>
            <a:off x="9858375" y="4067175"/>
            <a:ext cx="1517650" cy="1263650"/>
          </a:xfrm>
          <a:prstGeom prst="roundRect">
            <a:avLst>
              <a:gd name="adj" fmla="val 7789"/>
            </a:avLst>
          </a:prstGeom>
          <a:solidFill>
            <a:srgbClr val="E8E4E6"/>
          </a:solidFill>
          <a:ln w="6350">
            <a:solidFill>
              <a:srgbClr val="CFC8CB"/>
            </a:solidFill>
            <a:prstDash val="solid"/>
          </a:ln>
        </p:spPr>
      </p:sp>
      <p:pic>
        <p:nvPicPr>
          <p:cNvPr id="33" name="Image 11" descr="Clock">    </p:cNvPr>
          <p:cNvPicPr>
            <a:picLocks noChangeAspect="1"/>
          </p:cNvPicPr>
          <p:nvPr/>
        </p:nvPicPr>
        <p:blipFill>
          <a:blip r:embed="rId12"/>
          <a:srcRect l="0" r="0" t="0" b="0"/>
          <a:stretch/>
        </p:blipFill>
        <p:spPr>
          <a:xfrm>
            <a:off x="10439400" y="4264676"/>
            <a:ext cx="355600" cy="355600"/>
          </a:xfrm>
          <a:prstGeom prst="rect">
            <a:avLst/>
          </a:prstGeom>
        </p:spPr>
      </p:pic>
      <p:sp>
        <p:nvSpPr>
          <p:cNvPr id="34" name="Text 20"/>
          <p:cNvSpPr/>
          <p:nvPr/>
        </p:nvSpPr>
        <p:spPr>
          <a:xfrm>
            <a:off x="10133850" y="4671076"/>
            <a:ext cx="966701" cy="238738"/>
          </a:xfrm>
          <a:prstGeom prst="rect">
            <a:avLst/>
          </a:prstGeom>
          <a:noFill/>
          <a:ln/>
        </p:spPr>
        <p:txBody>
          <a:bodyPr wrap="square" lIns="0" tIns="0" rIns="0" bIns="0" rtlCol="0" anchor="t">
            <a:normAutofit/>
          </a:bodyPr>
          <a:lstStyle/>
          <a:p>
            <a:pPr algn="ctr" indent="0" marL="0">
              <a:lnSpc>
                <a:spcPts val="1680"/>
              </a:lnSpc>
              <a:buNone/>
            </a:pPr>
            <a:r>
              <a:rPr lang="en-US" sz="1400" b="1" dirty="0">
                <a:solidFill>
                  <a:srgbClr val="3A2F33"/>
                </a:solidFill>
                <a:latin typeface="Roboto" pitchFamily="34" charset="0"/>
                <a:ea typeface="Roboto" pitchFamily="34" charset="-122"/>
                <a:cs typeface="Roboto" pitchFamily="34" charset="-120"/>
              </a:rPr>
              <a:t>Scheduler</a:t>
            </a:r>
            <a:endParaRPr lang="en-US" sz="1400" dirty="0"/>
          </a:p>
        </p:txBody>
      </p:sp>
      <p:sp>
        <p:nvSpPr>
          <p:cNvPr id="35" name="Text 21"/>
          <p:cNvSpPr/>
          <p:nvPr/>
        </p:nvSpPr>
        <p:spPr>
          <a:xfrm>
            <a:off x="9941488" y="4935215"/>
            <a:ext cx="1351424" cy="223513"/>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4A3F44"/>
                </a:solidFill>
                <a:latin typeface="Roboto" pitchFamily="34" charset="0"/>
                <a:ea typeface="Roboto" pitchFamily="34" charset="-122"/>
                <a:cs typeface="Roboto" pitchFamily="34" charset="-120"/>
              </a:rPr>
              <a:t>background jobs</a:t>
            </a:r>
            <a:endParaRPr lang="en-US" sz="1200" dirty="0"/>
          </a:p>
        </p:txBody>
      </p:sp>
      <p:sp>
        <p:nvSpPr>
          <p:cNvPr id="36" name="Text 22"/>
          <p:cNvSpPr/>
          <p:nvPr/>
        </p:nvSpPr>
        <p:spPr>
          <a:xfrm>
            <a:off x="812800" y="6238267"/>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37" name="Text 23"/>
          <p:cNvSpPr/>
          <p:nvPr/>
        </p:nvSpPr>
        <p:spPr>
          <a:xfrm>
            <a:off x="10058400" y="6238267"/>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05</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Flow Diagram</a:t>
            </a:r>
            <a:endParaRPr lang="en-US" sz="3200" dirty="0"/>
          </a:p>
        </p:txBody>
      </p:sp>
      <p:sp>
        <p:nvSpPr>
          <p:cNvPr id="4" name="Text 2"/>
          <p:cNvSpPr/>
          <p:nvPr/>
        </p:nvSpPr>
        <p:spPr>
          <a:xfrm>
            <a:off x="812800" y="1638300"/>
            <a:ext cx="274701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5068"/>
                </a:solidFill>
                <a:latin typeface="Roboto" pitchFamily="34" charset="0"/>
                <a:ea typeface="Roboto" pitchFamily="34" charset="-122"/>
                <a:cs typeface="Roboto" pitchFamily="34" charset="-120"/>
              </a:rPr>
              <a:t>Sync flow (background)</a:t>
            </a:r>
            <a:endParaRPr lang="en-US" sz="1200" dirty="0"/>
          </a:p>
        </p:txBody>
      </p:sp>
      <p:sp>
        <p:nvSpPr>
          <p:cNvPr id="5" name="Text 3"/>
          <p:cNvSpPr/>
          <p:nvPr/>
        </p:nvSpPr>
        <p:spPr>
          <a:xfrm>
            <a:off x="812800" y="3975100"/>
            <a:ext cx="183134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5068"/>
                </a:solidFill>
                <a:latin typeface="Roboto" pitchFamily="34" charset="0"/>
                <a:ea typeface="Roboto" pitchFamily="34" charset="-122"/>
                <a:cs typeface="Roboto" pitchFamily="34" charset="-120"/>
              </a:rPr>
              <a:t>Insight flow</a:t>
            </a:r>
            <a:endParaRPr lang="en-US" sz="1200" dirty="0"/>
          </a:p>
        </p:txBody>
      </p:sp>
      <p:sp>
        <p:nvSpPr>
          <p:cNvPr id="6" name="Text 4"/>
          <p:cNvSpPr/>
          <p:nvPr/>
        </p:nvSpPr>
        <p:spPr>
          <a:xfrm>
            <a:off x="812800" y="3302000"/>
            <a:ext cx="3662680" cy="238738"/>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B5F64"/>
                </a:solidFill>
                <a:latin typeface="Roboto" pitchFamily="34" charset="0"/>
                <a:ea typeface="Roboto" pitchFamily="34" charset="-122"/>
                <a:cs typeface="Roboto" pitchFamily="34" charset="-120"/>
              </a:rPr>
              <a:t>Stored data feeds the insight flow</a:t>
            </a:r>
            <a:endParaRPr lang="en-US" sz="1200" dirty="0"/>
          </a:p>
        </p:txBody>
      </p:sp>
      <p:pic>
        <p:nvPicPr>
          <p:cNvPr id="7" name="Image 0" descr="diamond">    </p:cNvPr>
          <p:cNvPicPr>
            <a:picLocks noChangeAspect="1"/>
          </p:cNvPicPr>
          <p:nvPr/>
        </p:nvPicPr>
        <p:blipFill>
          <a:blip r:embed="rId1"/>
          <a:srcRect l="0" r="0" t="0" b="0"/>
          <a:stretch/>
        </p:blipFill>
        <p:spPr>
          <a:xfrm>
            <a:off x="4686300" y="1651000"/>
            <a:ext cx="1905000" cy="1143000"/>
          </a:xfrm>
          <a:prstGeom prst="rect">
            <a:avLst/>
          </a:prstGeom>
        </p:spPr>
      </p:pic>
      <p:pic>
        <p:nvPicPr>
          <p:cNvPr id="8" name="Image 1" descr="diamond">    </p:cNvPr>
          <p:cNvPicPr>
            <a:picLocks noChangeAspect="1"/>
          </p:cNvPicPr>
          <p:nvPr/>
        </p:nvPicPr>
        <p:blipFill>
          <a:blip r:embed="rId2"/>
          <a:srcRect l="0" r="0" t="0" b="0"/>
          <a:stretch/>
        </p:blipFill>
        <p:spPr>
          <a:xfrm>
            <a:off x="2717800" y="4000500"/>
            <a:ext cx="1905000" cy="1143000"/>
          </a:xfrm>
          <a:prstGeom prst="rect">
            <a:avLst/>
          </a:prstGeom>
        </p:spPr>
      </p:pic>
      <p:pic>
        <p:nvPicPr>
          <p:cNvPr id="9" name="Image 2" descr="diamond">    </p:cNvPr>
          <p:cNvPicPr>
            <a:picLocks noChangeAspect="1"/>
          </p:cNvPicPr>
          <p:nvPr/>
        </p:nvPicPr>
        <p:blipFill>
          <a:blip r:embed="rId3"/>
          <a:srcRect l="0" r="0" t="0" b="0"/>
          <a:stretch/>
        </p:blipFill>
        <p:spPr>
          <a:xfrm>
            <a:off x="7099300" y="4000500"/>
            <a:ext cx="1651000" cy="1143000"/>
          </a:xfrm>
          <a:prstGeom prst="rect">
            <a:avLst/>
          </a:prstGeom>
        </p:spPr>
      </p:pic>
      <p:pic>
        <p:nvPicPr>
          <p:cNvPr id="10" name="Image 3" descr="connector">    </p:cNvPr>
          <p:cNvPicPr>
            <a:picLocks noChangeAspect="1"/>
          </p:cNvPicPr>
          <p:nvPr/>
        </p:nvPicPr>
        <p:blipFill>
          <a:blip r:embed="rId4"/>
          <a:srcRect l="0" r="0" t="0" b="0"/>
          <a:stretch/>
        </p:blipFill>
        <p:spPr>
          <a:xfrm>
            <a:off x="2286000" y="2171700"/>
            <a:ext cx="482600" cy="101600"/>
          </a:xfrm>
          <a:prstGeom prst="rect">
            <a:avLst/>
          </a:prstGeom>
        </p:spPr>
      </p:pic>
      <p:pic>
        <p:nvPicPr>
          <p:cNvPr id="11" name="Image 4" descr="connector">    </p:cNvPr>
          <p:cNvPicPr>
            <a:picLocks noChangeAspect="1"/>
          </p:cNvPicPr>
          <p:nvPr/>
        </p:nvPicPr>
        <p:blipFill>
          <a:blip r:embed="rId5"/>
          <a:srcRect l="0" r="0" t="0" b="0"/>
          <a:stretch/>
        </p:blipFill>
        <p:spPr>
          <a:xfrm>
            <a:off x="4254500" y="2171700"/>
            <a:ext cx="482600" cy="101600"/>
          </a:xfrm>
          <a:prstGeom prst="rect">
            <a:avLst/>
          </a:prstGeom>
        </p:spPr>
      </p:pic>
      <p:pic>
        <p:nvPicPr>
          <p:cNvPr id="12" name="Image 5" descr="connector">    </p:cNvPr>
          <p:cNvPicPr>
            <a:picLocks noChangeAspect="1"/>
          </p:cNvPicPr>
          <p:nvPr/>
        </p:nvPicPr>
        <p:blipFill>
          <a:blip r:embed="rId6"/>
          <a:srcRect l="0" r="0" t="0" b="0"/>
          <a:stretch/>
        </p:blipFill>
        <p:spPr>
          <a:xfrm>
            <a:off x="6540500" y="2171700"/>
            <a:ext cx="673100" cy="101600"/>
          </a:xfrm>
          <a:prstGeom prst="rect">
            <a:avLst/>
          </a:prstGeom>
        </p:spPr>
      </p:pic>
      <p:pic>
        <p:nvPicPr>
          <p:cNvPr id="13" name="Image 6" descr="connector">    </p:cNvPr>
          <p:cNvPicPr>
            <a:picLocks noChangeAspect="1"/>
          </p:cNvPicPr>
          <p:nvPr/>
        </p:nvPicPr>
        <p:blipFill>
          <a:blip r:embed="rId7"/>
          <a:srcRect l="0" r="0" t="0" b="0"/>
          <a:stretch/>
        </p:blipFill>
        <p:spPr>
          <a:xfrm>
            <a:off x="8699500" y="2171700"/>
            <a:ext cx="482600" cy="101600"/>
          </a:xfrm>
          <a:prstGeom prst="rect">
            <a:avLst/>
          </a:prstGeom>
        </p:spPr>
      </p:pic>
      <p:pic>
        <p:nvPicPr>
          <p:cNvPr id="14" name="Image 7" descr="connector">    </p:cNvPr>
          <p:cNvPicPr>
            <a:picLocks noChangeAspect="1"/>
          </p:cNvPicPr>
          <p:nvPr/>
        </p:nvPicPr>
        <p:blipFill>
          <a:blip r:embed="rId8"/>
          <a:srcRect l="0" r="0" t="0" b="0"/>
          <a:stretch/>
        </p:blipFill>
        <p:spPr>
          <a:xfrm>
            <a:off x="5588000" y="2743200"/>
            <a:ext cx="101600" cy="482600"/>
          </a:xfrm>
          <a:prstGeom prst="rect">
            <a:avLst/>
          </a:prstGeom>
        </p:spPr>
      </p:pic>
      <p:pic>
        <p:nvPicPr>
          <p:cNvPr id="15" name="Image 8" descr="connector">    </p:cNvPr>
          <p:cNvPicPr>
            <a:picLocks noChangeAspect="1"/>
          </p:cNvPicPr>
          <p:nvPr/>
        </p:nvPicPr>
        <p:blipFill>
          <a:blip r:embed="rId9"/>
          <a:srcRect l="0" r="0" t="0" b="0"/>
          <a:stretch/>
        </p:blipFill>
        <p:spPr>
          <a:xfrm>
            <a:off x="2286000" y="4521200"/>
            <a:ext cx="482600" cy="101600"/>
          </a:xfrm>
          <a:prstGeom prst="rect">
            <a:avLst/>
          </a:prstGeom>
        </p:spPr>
      </p:pic>
      <p:pic>
        <p:nvPicPr>
          <p:cNvPr id="16" name="Image 9" descr="connector">    </p:cNvPr>
          <p:cNvPicPr>
            <a:picLocks noChangeAspect="1"/>
          </p:cNvPicPr>
          <p:nvPr/>
        </p:nvPicPr>
        <p:blipFill>
          <a:blip r:embed="rId10"/>
          <a:srcRect l="0" r="0" t="0" b="0"/>
          <a:stretch/>
        </p:blipFill>
        <p:spPr>
          <a:xfrm>
            <a:off x="4572000" y="4521200"/>
            <a:ext cx="609600" cy="101600"/>
          </a:xfrm>
          <a:prstGeom prst="rect">
            <a:avLst/>
          </a:prstGeom>
        </p:spPr>
      </p:pic>
      <p:pic>
        <p:nvPicPr>
          <p:cNvPr id="17" name="Image 10" descr="connector">    </p:cNvPr>
          <p:cNvPicPr>
            <a:picLocks noChangeAspect="1"/>
          </p:cNvPicPr>
          <p:nvPr/>
        </p:nvPicPr>
        <p:blipFill>
          <a:blip r:embed="rId11"/>
          <a:srcRect l="0" r="0" t="0" b="0"/>
          <a:stretch/>
        </p:blipFill>
        <p:spPr>
          <a:xfrm>
            <a:off x="6667500" y="4521200"/>
            <a:ext cx="482600" cy="101600"/>
          </a:xfrm>
          <a:prstGeom prst="rect">
            <a:avLst/>
          </a:prstGeom>
        </p:spPr>
      </p:pic>
      <p:pic>
        <p:nvPicPr>
          <p:cNvPr id="18" name="Image 11" descr="connector">    </p:cNvPr>
          <p:cNvPicPr>
            <a:picLocks noChangeAspect="1"/>
          </p:cNvPicPr>
          <p:nvPr/>
        </p:nvPicPr>
        <p:blipFill>
          <a:blip r:embed="rId12"/>
          <a:srcRect l="0" r="0" t="0" b="0"/>
          <a:stretch/>
        </p:blipFill>
        <p:spPr>
          <a:xfrm>
            <a:off x="8699500" y="4521200"/>
            <a:ext cx="482600" cy="101600"/>
          </a:xfrm>
          <a:prstGeom prst="rect">
            <a:avLst/>
          </a:prstGeom>
        </p:spPr>
      </p:pic>
      <p:pic>
        <p:nvPicPr>
          <p:cNvPr id="19" name="Image 12" descr="connector">    </p:cNvPr>
          <p:cNvPicPr>
            <a:picLocks noChangeAspect="1"/>
          </p:cNvPicPr>
          <p:nvPr/>
        </p:nvPicPr>
        <p:blipFill>
          <a:blip r:embed="rId13"/>
          <a:srcRect l="0" r="0" t="0" b="0"/>
          <a:stretch/>
        </p:blipFill>
        <p:spPr>
          <a:xfrm>
            <a:off x="3619500" y="5092700"/>
            <a:ext cx="101600" cy="355600"/>
          </a:xfrm>
          <a:prstGeom prst="rect">
            <a:avLst/>
          </a:prstGeom>
        </p:spPr>
      </p:pic>
      <p:pic>
        <p:nvPicPr>
          <p:cNvPr id="20" name="Image 13" descr="connector">    </p:cNvPr>
          <p:cNvPicPr>
            <a:picLocks noChangeAspect="1"/>
          </p:cNvPicPr>
          <p:nvPr/>
        </p:nvPicPr>
        <p:blipFill>
          <a:blip r:embed="rId14"/>
          <a:srcRect l="0" r="0" t="0" b="0"/>
          <a:stretch/>
        </p:blipFill>
        <p:spPr>
          <a:xfrm>
            <a:off x="7874000" y="5092700"/>
            <a:ext cx="101600" cy="355600"/>
          </a:xfrm>
          <a:prstGeom prst="rect">
            <a:avLst/>
          </a:prstGeom>
        </p:spPr>
      </p:pic>
      <p:pic>
        <p:nvPicPr>
          <p:cNvPr id="21" name="Image 14" descr="connector">    </p:cNvPr>
          <p:cNvPicPr>
            <a:picLocks noChangeAspect="1"/>
          </p:cNvPicPr>
          <p:nvPr/>
        </p:nvPicPr>
        <p:blipFill>
          <a:blip r:embed="rId15"/>
          <a:srcRect l="0" r="0" t="0" b="0"/>
          <a:stretch/>
        </p:blipFill>
        <p:spPr>
          <a:xfrm>
            <a:off x="10128250" y="4838700"/>
            <a:ext cx="101600" cy="609600"/>
          </a:xfrm>
          <a:prstGeom prst="rect">
            <a:avLst/>
          </a:prstGeom>
        </p:spPr>
      </p:pic>
      <p:sp>
        <p:nvSpPr>
          <p:cNvPr id="22" name="Text 5"/>
          <p:cNvSpPr/>
          <p:nvPr/>
        </p:nvSpPr>
        <p:spPr>
          <a:xfrm>
            <a:off x="812800" y="1905000"/>
            <a:ext cx="1524000" cy="635000"/>
          </a:xfrm>
          <a:prstGeom prst="roundRect">
            <a:avLst>
              <a:gd name="adj" fmla="val 12000"/>
            </a:avLst>
          </a:prstGeom>
          <a:solidFill>
            <a:srgbClr val="6B3D52"/>
          </a:solidFill>
          <a:ln/>
        </p:spPr>
        <p:txBody>
          <a:bodyPr wrap="square" lIns="79282" tIns="0" rIns="79282"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Scheduler triggers sync</a:t>
            </a:r>
            <a:endParaRPr lang="en-US" sz="1300" dirty="0"/>
          </a:p>
        </p:txBody>
      </p:sp>
      <p:sp>
        <p:nvSpPr>
          <p:cNvPr id="23" name="Text 6"/>
          <p:cNvSpPr/>
          <p:nvPr/>
        </p:nvSpPr>
        <p:spPr>
          <a:xfrm>
            <a:off x="2717800" y="1905000"/>
            <a:ext cx="1587500" cy="635000"/>
          </a:xfrm>
          <a:prstGeom prst="roundRect">
            <a:avLst>
              <a:gd name="adj" fmla="val 12000"/>
            </a:avLst>
          </a:prstGeom>
          <a:solidFill>
            <a:srgbClr val="6B3D52"/>
          </a:solidFill>
          <a:ln/>
        </p:spPr>
        <p:txBody>
          <a:bodyPr wrap="square" lIns="79282" tIns="0" rIns="79282"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Connector fetches balances</a:t>
            </a:r>
            <a:endParaRPr lang="en-US" sz="1300" dirty="0"/>
          </a:p>
        </p:txBody>
      </p:sp>
      <p:sp>
        <p:nvSpPr>
          <p:cNvPr id="24" name="Text 7"/>
          <p:cNvSpPr/>
          <p:nvPr/>
        </p:nvSpPr>
        <p:spPr>
          <a:xfrm>
            <a:off x="5073650" y="2131076"/>
            <a:ext cx="1130300" cy="208251"/>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3A2F33"/>
                </a:solidFill>
                <a:latin typeface="Roboto" pitchFamily="34" charset="0"/>
                <a:ea typeface="Roboto" pitchFamily="34" charset="-122"/>
                <a:cs typeface="Roboto" pitchFamily="34" charset="-120"/>
              </a:rPr>
              <a:t>API reachable?</a:t>
            </a:r>
            <a:endParaRPr lang="en-US" sz="1200" dirty="0"/>
          </a:p>
        </p:txBody>
      </p:sp>
      <p:sp>
        <p:nvSpPr>
          <p:cNvPr id="25" name="Text 8"/>
          <p:cNvSpPr/>
          <p:nvPr/>
        </p:nvSpPr>
        <p:spPr>
          <a:xfrm>
            <a:off x="7162800" y="1905000"/>
            <a:ext cx="1587500" cy="635000"/>
          </a:xfrm>
          <a:prstGeom prst="roundRect">
            <a:avLst>
              <a:gd name="adj" fmla="val 12000"/>
            </a:avLst>
          </a:prstGeom>
          <a:solidFill>
            <a:srgbClr val="6B3D52"/>
          </a:solidFill>
          <a:ln/>
        </p:spPr>
        <p:txBody>
          <a:bodyPr wrap="square" lIns="79282" tIns="0" rIns="79282"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Normalize to rupee value</a:t>
            </a:r>
            <a:endParaRPr lang="en-US" sz="1300" dirty="0"/>
          </a:p>
        </p:txBody>
      </p:sp>
      <p:sp>
        <p:nvSpPr>
          <p:cNvPr id="26" name="Text 9"/>
          <p:cNvSpPr/>
          <p:nvPr/>
        </p:nvSpPr>
        <p:spPr>
          <a:xfrm>
            <a:off x="9131300" y="1905000"/>
            <a:ext cx="2095500" cy="635000"/>
          </a:xfrm>
          <a:prstGeom prst="roundRect">
            <a:avLst>
              <a:gd name="adj" fmla="val 12000"/>
            </a:avLst>
          </a:prstGeom>
          <a:solidFill>
            <a:srgbClr val="2F6F6A"/>
          </a:solidFill>
          <a:ln/>
        </p:spPr>
        <p:txBody>
          <a:bodyPr wrap="square" lIns="77059" tIns="0" rIns="77059"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Store in ledger and cache</a:t>
            </a:r>
            <a:endParaRPr lang="en-US" sz="1300" dirty="0"/>
          </a:p>
        </p:txBody>
      </p:sp>
      <p:sp>
        <p:nvSpPr>
          <p:cNvPr id="27" name="Text 10"/>
          <p:cNvSpPr/>
          <p:nvPr/>
        </p:nvSpPr>
        <p:spPr>
          <a:xfrm>
            <a:off x="4689475" y="3178175"/>
            <a:ext cx="1898650" cy="628650"/>
          </a:xfrm>
          <a:prstGeom prst="roundRect">
            <a:avLst>
              <a:gd name="adj" fmla="val 11616"/>
            </a:avLst>
          </a:prstGeom>
          <a:solidFill>
            <a:srgbClr val="E8E4E6"/>
          </a:solidFill>
          <a:ln w="6350">
            <a:solidFill>
              <a:srgbClr val="CFC8CB"/>
            </a:solidFill>
            <a:prstDash val="solid"/>
          </a:ln>
        </p:spPr>
        <p:txBody>
          <a:bodyPr wrap="square" lIns="77037" tIns="0" rIns="77037"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Retry, serve last stored data</a:t>
            </a:r>
            <a:endParaRPr lang="en-US" sz="1300" dirty="0"/>
          </a:p>
        </p:txBody>
      </p:sp>
      <p:sp>
        <p:nvSpPr>
          <p:cNvPr id="28" name="Text 11"/>
          <p:cNvSpPr/>
          <p:nvPr/>
        </p:nvSpPr>
        <p:spPr>
          <a:xfrm>
            <a:off x="812800" y="4254500"/>
            <a:ext cx="1524000" cy="635000"/>
          </a:xfrm>
          <a:prstGeom prst="roundRect">
            <a:avLst>
              <a:gd name="adj" fmla="val 12000"/>
            </a:avLst>
          </a:prstGeom>
          <a:solidFill>
            <a:srgbClr val="6B3D52"/>
          </a:solidFill>
          <a:ln/>
        </p:spPr>
        <p:txBody>
          <a:bodyPr wrap="square" lIns="79282" tIns="0" rIns="79282"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Check expiry dates</a:t>
            </a:r>
            <a:endParaRPr lang="en-US" sz="1300" dirty="0"/>
          </a:p>
        </p:txBody>
      </p:sp>
      <p:sp>
        <p:nvSpPr>
          <p:cNvPr id="29" name="Text 12"/>
          <p:cNvSpPr/>
          <p:nvPr/>
        </p:nvSpPr>
        <p:spPr>
          <a:xfrm>
            <a:off x="3105150" y="4480576"/>
            <a:ext cx="1130300" cy="208251"/>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3A2F33"/>
                </a:solidFill>
                <a:latin typeface="Roboto" pitchFamily="34" charset="0"/>
                <a:ea typeface="Roboto" pitchFamily="34" charset="-122"/>
                <a:cs typeface="Roboto" pitchFamily="34" charset="-120"/>
              </a:rPr>
              <a:t>Expires soon?</a:t>
            </a:r>
            <a:endParaRPr lang="en-US" sz="1200" dirty="0"/>
          </a:p>
        </p:txBody>
      </p:sp>
      <p:sp>
        <p:nvSpPr>
          <p:cNvPr id="30" name="Text 13"/>
          <p:cNvSpPr/>
          <p:nvPr/>
        </p:nvSpPr>
        <p:spPr>
          <a:xfrm>
            <a:off x="5130800" y="4254500"/>
            <a:ext cx="1587500" cy="635000"/>
          </a:xfrm>
          <a:prstGeom prst="roundRect">
            <a:avLst>
              <a:gd name="adj" fmla="val 12000"/>
            </a:avLst>
          </a:prstGeom>
          <a:solidFill>
            <a:srgbClr val="6B3D52"/>
          </a:solidFill>
          <a:ln/>
        </p:spPr>
        <p:txBody>
          <a:bodyPr wrap="square" lIns="79282" tIns="0" rIns="79282"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Score and rank rewards</a:t>
            </a:r>
            <a:endParaRPr lang="en-US" sz="1300" dirty="0"/>
          </a:p>
        </p:txBody>
      </p:sp>
      <p:sp>
        <p:nvSpPr>
          <p:cNvPr id="31" name="Text 14"/>
          <p:cNvSpPr/>
          <p:nvPr/>
        </p:nvSpPr>
        <p:spPr>
          <a:xfrm>
            <a:off x="7454900" y="4389152"/>
            <a:ext cx="939800" cy="391102"/>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3A2F33"/>
                </a:solidFill>
                <a:latin typeface="Roboto" pitchFamily="34" charset="0"/>
                <a:ea typeface="Roboto" pitchFamily="34" charset="-122"/>
                <a:cs typeface="Roboto" pitchFamily="34" charset="-120"/>
              </a:rPr>
              <a:t>Enough points?</a:t>
            </a:r>
            <a:endParaRPr lang="en-US" sz="1200" dirty="0"/>
          </a:p>
        </p:txBody>
      </p:sp>
      <p:sp>
        <p:nvSpPr>
          <p:cNvPr id="32" name="Text 15"/>
          <p:cNvSpPr/>
          <p:nvPr/>
        </p:nvSpPr>
        <p:spPr>
          <a:xfrm>
            <a:off x="9131300" y="4254500"/>
            <a:ext cx="2095500" cy="635000"/>
          </a:xfrm>
          <a:prstGeom prst="roundRect">
            <a:avLst>
              <a:gd name="adj" fmla="val 12000"/>
            </a:avLst>
          </a:prstGeom>
          <a:solidFill>
            <a:srgbClr val="6B3D52"/>
          </a:solidFill>
          <a:ln/>
        </p:spPr>
        <p:txBody>
          <a:bodyPr wrap="square" lIns="77059" tIns="0" rIns="77059"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Ranked list with reasons</a:t>
            </a:r>
            <a:endParaRPr lang="en-US" sz="1300" dirty="0"/>
          </a:p>
        </p:txBody>
      </p:sp>
      <p:sp>
        <p:nvSpPr>
          <p:cNvPr id="33" name="Text 16"/>
          <p:cNvSpPr/>
          <p:nvPr/>
        </p:nvSpPr>
        <p:spPr>
          <a:xfrm>
            <a:off x="2717800" y="5397500"/>
            <a:ext cx="1905000" cy="444500"/>
          </a:xfrm>
          <a:prstGeom prst="roundRect">
            <a:avLst>
              <a:gd name="adj" fmla="val 17143"/>
            </a:avLst>
          </a:prstGeom>
          <a:solidFill>
            <a:srgbClr val="6B3D52"/>
          </a:solidFill>
          <a:ln/>
        </p:spPr>
        <p:txBody>
          <a:bodyPr wrap="square" lIns="0" tIns="0" rIns="0"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Send expiry alert</a:t>
            </a:r>
            <a:endParaRPr lang="en-US" sz="1300" dirty="0"/>
          </a:p>
        </p:txBody>
      </p:sp>
      <p:sp>
        <p:nvSpPr>
          <p:cNvPr id="34" name="Text 17"/>
          <p:cNvSpPr/>
          <p:nvPr/>
        </p:nvSpPr>
        <p:spPr>
          <a:xfrm>
            <a:off x="7102475" y="5400675"/>
            <a:ext cx="1644650" cy="438150"/>
          </a:xfrm>
          <a:prstGeom prst="roundRect">
            <a:avLst>
              <a:gd name="adj" fmla="val 16667"/>
            </a:avLst>
          </a:prstGeom>
          <a:solidFill>
            <a:srgbClr val="E8E4E6"/>
          </a:solidFill>
          <a:ln w="6350">
            <a:solidFill>
              <a:srgbClr val="CFC8CB"/>
            </a:solidFill>
            <a:prstDash val="solid"/>
          </a:ln>
        </p:spPr>
        <p:txBody>
          <a:bodyPr wrap="square" lIns="0" tIns="0" rIns="0" bIns="0" rtlCol="0" anchor="ctr">
            <a:normAutofit/>
          </a:bodyPr>
          <a:lstStyle/>
          <a:p>
            <a:pPr algn="ctr" indent="0" marL="0">
              <a:lnSpc>
                <a:spcPts val="1560"/>
              </a:lnSpc>
              <a:buNone/>
            </a:pPr>
            <a:r>
              <a:rPr lang="en-US" sz="1300" dirty="0">
                <a:solidFill>
                  <a:srgbClr val="3A2F33"/>
                </a:solidFill>
                <a:latin typeface="Roboto" pitchFamily="34" charset="0"/>
                <a:ea typeface="Roboto" pitchFamily="34" charset="-122"/>
                <a:cs typeface="Roboto" pitchFamily="34" charset="-120"/>
              </a:rPr>
              <a:t>Drop reward</a:t>
            </a:r>
            <a:endParaRPr lang="en-US" sz="1300" dirty="0"/>
          </a:p>
        </p:txBody>
      </p:sp>
      <p:sp>
        <p:nvSpPr>
          <p:cNvPr id="35" name="Text 18"/>
          <p:cNvSpPr/>
          <p:nvPr/>
        </p:nvSpPr>
        <p:spPr>
          <a:xfrm>
            <a:off x="9131300" y="5397500"/>
            <a:ext cx="2095500" cy="444500"/>
          </a:xfrm>
          <a:prstGeom prst="roundRect">
            <a:avLst>
              <a:gd name="adj" fmla="val 17143"/>
            </a:avLst>
          </a:prstGeom>
          <a:solidFill>
            <a:srgbClr val="2F6F6A"/>
          </a:solidFill>
          <a:ln/>
        </p:spPr>
        <p:txBody>
          <a:bodyPr wrap="square" lIns="0" tIns="0" rIns="0" bIns="0" rtlCol="0" anchor="ctr">
            <a:normAutofit/>
          </a:bodyPr>
          <a:lstStyle/>
          <a:p>
            <a:pPr algn="ctr" indent="0" marL="0">
              <a:lnSpc>
                <a:spcPts val="1560"/>
              </a:lnSpc>
              <a:buNone/>
            </a:pPr>
            <a:r>
              <a:rPr lang="en-US" sz="1300" dirty="0">
                <a:solidFill>
                  <a:srgbClr val="FBF8F9"/>
                </a:solidFill>
                <a:latin typeface="Roboto" pitchFamily="34" charset="0"/>
                <a:ea typeface="Roboto" pitchFamily="34" charset="-122"/>
                <a:cs typeface="Roboto" pitchFamily="34" charset="-120"/>
              </a:rPr>
              <a:t>Redeem; ledger row</a:t>
            </a:r>
            <a:endParaRPr lang="en-US" sz="1300" dirty="0"/>
          </a:p>
        </p:txBody>
      </p:sp>
      <p:sp>
        <p:nvSpPr>
          <p:cNvPr id="36" name="Text 19"/>
          <p:cNvSpPr/>
          <p:nvPr/>
        </p:nvSpPr>
        <p:spPr>
          <a:xfrm>
            <a:off x="6654800" y="1943100"/>
            <a:ext cx="495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6A"/>
                </a:solidFill>
                <a:latin typeface="Roboto" pitchFamily="34" charset="0"/>
                <a:ea typeface="Roboto" pitchFamily="34" charset="-122"/>
                <a:cs typeface="Roboto" pitchFamily="34" charset="-120"/>
              </a:rPr>
              <a:t>Yes</a:t>
            </a:r>
            <a:endParaRPr lang="en-US" sz="1200" dirty="0"/>
          </a:p>
        </p:txBody>
      </p:sp>
      <p:sp>
        <p:nvSpPr>
          <p:cNvPr id="37" name="Text 20"/>
          <p:cNvSpPr/>
          <p:nvPr/>
        </p:nvSpPr>
        <p:spPr>
          <a:xfrm>
            <a:off x="5727700" y="2870200"/>
            <a:ext cx="4318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No</a:t>
            </a:r>
            <a:endParaRPr lang="en-US" sz="1200" dirty="0"/>
          </a:p>
        </p:txBody>
      </p:sp>
      <p:sp>
        <p:nvSpPr>
          <p:cNvPr id="38" name="Text 21"/>
          <p:cNvSpPr/>
          <p:nvPr/>
        </p:nvSpPr>
        <p:spPr>
          <a:xfrm>
            <a:off x="3746500" y="5156200"/>
            <a:ext cx="495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6A"/>
                </a:solidFill>
                <a:latin typeface="Roboto" pitchFamily="34" charset="0"/>
                <a:ea typeface="Roboto" pitchFamily="34" charset="-122"/>
                <a:cs typeface="Roboto" pitchFamily="34" charset="-120"/>
              </a:rPr>
              <a:t>Yes</a:t>
            </a:r>
            <a:endParaRPr lang="en-US" sz="1200" dirty="0"/>
          </a:p>
        </p:txBody>
      </p:sp>
      <p:sp>
        <p:nvSpPr>
          <p:cNvPr id="39" name="Text 22"/>
          <p:cNvSpPr/>
          <p:nvPr/>
        </p:nvSpPr>
        <p:spPr>
          <a:xfrm>
            <a:off x="8001000" y="5156200"/>
            <a:ext cx="4318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No</a:t>
            </a:r>
            <a:endParaRPr lang="en-US" sz="1200" dirty="0"/>
          </a:p>
        </p:txBody>
      </p:sp>
      <p:sp>
        <p:nvSpPr>
          <p:cNvPr id="40" name="Text 23"/>
          <p:cNvSpPr/>
          <p:nvPr/>
        </p:nvSpPr>
        <p:spPr>
          <a:xfrm>
            <a:off x="8813800" y="4292600"/>
            <a:ext cx="368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6A"/>
                </a:solidFill>
                <a:latin typeface="Roboto" pitchFamily="34" charset="0"/>
                <a:ea typeface="Roboto" pitchFamily="34" charset="-122"/>
                <a:cs typeface="Roboto" pitchFamily="34" charset="-120"/>
              </a:rPr>
              <a:t>Yes</a:t>
            </a:r>
            <a:endParaRPr lang="en-US" sz="1200" dirty="0"/>
          </a:p>
        </p:txBody>
      </p:sp>
      <p:sp>
        <p:nvSpPr>
          <p:cNvPr id="41" name="Text 24"/>
          <p:cNvSpPr/>
          <p:nvPr/>
        </p:nvSpPr>
        <p:spPr>
          <a:xfrm>
            <a:off x="812800" y="6238267"/>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42" name="Text 25"/>
          <p:cNvSpPr/>
          <p:nvPr/>
        </p:nvSpPr>
        <p:spPr>
          <a:xfrm>
            <a:off x="10058400" y="6238267"/>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38"/>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8B5068"/>
                </a:solidFill>
                <a:latin typeface="Roboto" pitchFamily="34" charset="0"/>
                <a:ea typeface="Roboto" pitchFamily="34" charset="-122"/>
                <a:cs typeface="Roboto" pitchFamily="34" charset="-120"/>
              </a:rPr>
              <a:t>CHAPTER 05</a:t>
            </a:r>
            <a:endParaRPr lang="en-US" sz="1200" dirty="0"/>
          </a:p>
        </p:txBody>
      </p:sp>
      <p:sp>
        <p:nvSpPr>
          <p:cNvPr id="3" name="Text 1"/>
          <p:cNvSpPr/>
          <p:nvPr>
            <p:ph type="title"/>
          </p:nvPr>
        </p:nvSpPr>
        <p:spPr>
          <a:xfrm>
            <a:off x="812800" y="1076939"/>
            <a:ext cx="10883392" cy="492738"/>
          </a:xfrm>
          <a:prstGeom prst="rect">
            <a:avLst/>
          </a:prstGeom>
          <a:noFill/>
          <a:ln/>
        </p:spPr>
        <p:txBody>
          <a:bodyPr wrap="square" lIns="0" tIns="0" rIns="0" bIns="0" rtlCol="0" anchor="t">
            <a:normAutofit/>
          </a:bodyPr>
          <a:lstStyle/>
          <a:p>
            <a:pPr algn="l" indent="0" marL="0">
              <a:lnSpc>
                <a:spcPts val="3680"/>
              </a:lnSpc>
              <a:buNone/>
            </a:pPr>
            <a:r>
              <a:rPr lang="en-US" sz="3200" b="0" i="0" dirty="0">
                <a:solidFill>
                  <a:srgbClr val="3A2F33"/>
                </a:solidFill>
                <a:latin typeface="Roboto" pitchFamily="34" charset="0"/>
                <a:ea typeface="Roboto" pitchFamily="34" charset="-122"/>
                <a:cs typeface="Roboto" pitchFamily="34" charset="-120"/>
              </a:rPr>
              <a:t>Database Relation Overview</a:t>
            </a:r>
            <a:endParaRPr lang="en-US" sz="3200" dirty="0"/>
          </a:p>
        </p:txBody>
      </p:sp>
      <p:sp>
        <p:nvSpPr>
          <p:cNvPr id="4" name="Text 2"/>
          <p:cNvSpPr/>
          <p:nvPr/>
        </p:nvSpPr>
        <p:spPr>
          <a:xfrm>
            <a:off x="6800850" y="1079500"/>
            <a:ext cx="457835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1 = one · N = many · FK = foreign key</a:t>
            </a:r>
            <a:endParaRPr lang="en-US" sz="1200" dirty="0"/>
          </a:p>
        </p:txBody>
      </p:sp>
      <p:pic>
        <p:nvPicPr>
          <p:cNvPr id="5" name="Image 0" descr="connector">    </p:cNvPr>
          <p:cNvPicPr>
            <a:picLocks noChangeAspect="1"/>
          </p:cNvPicPr>
          <p:nvPr/>
        </p:nvPicPr>
        <p:blipFill>
          <a:blip r:embed="rId1"/>
          <a:srcRect l="0" r="0" t="0" b="0"/>
          <a:stretch/>
        </p:blipFill>
        <p:spPr>
          <a:xfrm>
            <a:off x="3302000" y="1993900"/>
            <a:ext cx="711200" cy="101600"/>
          </a:xfrm>
          <a:prstGeom prst="rect">
            <a:avLst/>
          </a:prstGeom>
        </p:spPr>
      </p:pic>
      <p:pic>
        <p:nvPicPr>
          <p:cNvPr id="6" name="Image 1" descr="connector">    </p:cNvPr>
          <p:cNvPicPr>
            <a:picLocks noChangeAspect="1"/>
          </p:cNvPicPr>
          <p:nvPr/>
        </p:nvPicPr>
        <p:blipFill>
          <a:blip r:embed="rId2"/>
          <a:srcRect l="0" r="0" t="0" b="0"/>
          <a:stretch/>
        </p:blipFill>
        <p:spPr>
          <a:xfrm>
            <a:off x="3302000" y="2844800"/>
            <a:ext cx="711200" cy="101600"/>
          </a:xfrm>
          <a:prstGeom prst="rect">
            <a:avLst/>
          </a:prstGeom>
        </p:spPr>
      </p:pic>
      <p:pic>
        <p:nvPicPr>
          <p:cNvPr id="7" name="Image 2" descr="connector">    </p:cNvPr>
          <p:cNvPicPr>
            <a:picLocks noChangeAspect="1"/>
          </p:cNvPicPr>
          <p:nvPr/>
        </p:nvPicPr>
        <p:blipFill>
          <a:blip r:embed="rId3"/>
          <a:srcRect l="0" r="0" t="0" b="0"/>
          <a:stretch/>
        </p:blipFill>
        <p:spPr>
          <a:xfrm>
            <a:off x="3302000" y="3695700"/>
            <a:ext cx="711200" cy="101600"/>
          </a:xfrm>
          <a:prstGeom prst="rect">
            <a:avLst/>
          </a:prstGeom>
        </p:spPr>
      </p:pic>
      <p:pic>
        <p:nvPicPr>
          <p:cNvPr id="8" name="Image 3" descr="connector">    </p:cNvPr>
          <p:cNvPicPr>
            <a:picLocks noChangeAspect="1"/>
          </p:cNvPicPr>
          <p:nvPr/>
        </p:nvPicPr>
        <p:blipFill>
          <a:blip r:embed="rId4"/>
          <a:srcRect l="0" r="0" t="0" b="0"/>
          <a:stretch/>
        </p:blipFill>
        <p:spPr>
          <a:xfrm>
            <a:off x="3302000" y="4546600"/>
            <a:ext cx="711200" cy="101600"/>
          </a:xfrm>
          <a:prstGeom prst="rect">
            <a:avLst/>
          </a:prstGeom>
        </p:spPr>
      </p:pic>
      <p:pic>
        <p:nvPicPr>
          <p:cNvPr id="9" name="Image 4" descr="connector">    </p:cNvPr>
          <p:cNvPicPr>
            <a:picLocks noChangeAspect="1"/>
          </p:cNvPicPr>
          <p:nvPr/>
        </p:nvPicPr>
        <p:blipFill>
          <a:blip r:embed="rId5"/>
          <a:srcRect l="0" r="0" t="0" b="0"/>
          <a:stretch/>
        </p:blipFill>
        <p:spPr>
          <a:xfrm>
            <a:off x="3302000" y="5397500"/>
            <a:ext cx="711200" cy="101600"/>
          </a:xfrm>
          <a:prstGeom prst="rect">
            <a:avLst/>
          </a:prstGeom>
        </p:spPr>
      </p:pic>
      <p:pic>
        <p:nvPicPr>
          <p:cNvPr id="10" name="Image 5" descr="connector">    </p:cNvPr>
          <p:cNvPicPr>
            <a:picLocks noChangeAspect="1"/>
          </p:cNvPicPr>
          <p:nvPr/>
        </p:nvPicPr>
        <p:blipFill>
          <a:blip r:embed="rId6"/>
          <a:srcRect l="0" r="0" t="0" b="0"/>
          <a:stretch/>
        </p:blipFill>
        <p:spPr>
          <a:xfrm>
            <a:off x="7975600" y="1993900"/>
            <a:ext cx="711200" cy="101600"/>
          </a:xfrm>
          <a:prstGeom prst="rect">
            <a:avLst/>
          </a:prstGeom>
        </p:spPr>
      </p:pic>
      <p:pic>
        <p:nvPicPr>
          <p:cNvPr id="11" name="Image 6" descr="connector">    </p:cNvPr>
          <p:cNvPicPr>
            <a:picLocks noChangeAspect="1"/>
          </p:cNvPicPr>
          <p:nvPr/>
        </p:nvPicPr>
        <p:blipFill>
          <a:blip r:embed="rId7"/>
          <a:srcRect l="0" r="0" t="0" b="0"/>
          <a:stretch/>
        </p:blipFill>
        <p:spPr>
          <a:xfrm>
            <a:off x="7975600" y="2844800"/>
            <a:ext cx="711200" cy="101600"/>
          </a:xfrm>
          <a:prstGeom prst="rect">
            <a:avLst/>
          </a:prstGeom>
        </p:spPr>
      </p:pic>
      <p:pic>
        <p:nvPicPr>
          <p:cNvPr id="12" name="Image 7" descr="connector">    </p:cNvPr>
          <p:cNvPicPr>
            <a:picLocks noChangeAspect="1"/>
          </p:cNvPicPr>
          <p:nvPr/>
        </p:nvPicPr>
        <p:blipFill>
          <a:blip r:embed="rId8"/>
          <a:srcRect l="0" r="0" t="0" b="0"/>
          <a:stretch/>
        </p:blipFill>
        <p:spPr>
          <a:xfrm>
            <a:off x="7975600" y="3695700"/>
            <a:ext cx="711200" cy="101600"/>
          </a:xfrm>
          <a:prstGeom prst="rect">
            <a:avLst/>
          </a:prstGeom>
        </p:spPr>
      </p:pic>
      <p:pic>
        <p:nvPicPr>
          <p:cNvPr id="13" name="Image 8" descr="connector">    </p:cNvPr>
          <p:cNvPicPr>
            <a:picLocks noChangeAspect="1"/>
          </p:cNvPicPr>
          <p:nvPr/>
        </p:nvPicPr>
        <p:blipFill>
          <a:blip r:embed="rId9"/>
          <a:srcRect l="0" r="0" t="0" b="0"/>
          <a:stretch/>
        </p:blipFill>
        <p:spPr>
          <a:xfrm>
            <a:off x="7975600" y="4546600"/>
            <a:ext cx="711200" cy="101600"/>
          </a:xfrm>
          <a:prstGeom prst="rect">
            <a:avLst/>
          </a:prstGeom>
        </p:spPr>
      </p:pic>
      <p:pic>
        <p:nvPicPr>
          <p:cNvPr id="14" name="Image 9" descr="connector">    </p:cNvPr>
          <p:cNvPicPr>
            <a:picLocks noChangeAspect="1"/>
          </p:cNvPicPr>
          <p:nvPr/>
        </p:nvPicPr>
        <p:blipFill>
          <a:blip r:embed="rId10"/>
          <a:srcRect l="0" r="0" t="0" b="0"/>
          <a:stretch/>
        </p:blipFill>
        <p:spPr>
          <a:xfrm>
            <a:off x="9956800" y="3917950"/>
            <a:ext cx="101600" cy="577850"/>
          </a:xfrm>
          <a:prstGeom prst="rect">
            <a:avLst/>
          </a:prstGeom>
        </p:spPr>
      </p:pic>
      <p:sp>
        <p:nvSpPr>
          <p:cNvPr id="15" name="Shape 3"/>
          <p:cNvSpPr/>
          <p:nvPr/>
        </p:nvSpPr>
        <p:spPr>
          <a:xfrm>
            <a:off x="812800" y="1663700"/>
            <a:ext cx="2540000" cy="4165600"/>
          </a:xfrm>
          <a:prstGeom prst="roundRect">
            <a:avLst>
              <a:gd name="adj" fmla="val 3000"/>
            </a:avLst>
          </a:prstGeom>
          <a:solidFill>
            <a:srgbClr val="4B2839"/>
          </a:solidFill>
          <a:ln/>
        </p:spPr>
      </p:sp>
      <p:sp>
        <p:nvSpPr>
          <p:cNvPr id="16" name="Text 4"/>
          <p:cNvSpPr/>
          <p:nvPr/>
        </p:nvSpPr>
        <p:spPr>
          <a:xfrm>
            <a:off x="939800" y="3394726"/>
            <a:ext cx="2354580"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8F9"/>
                </a:solidFill>
                <a:latin typeface="Roboto" pitchFamily="34" charset="0"/>
                <a:ea typeface="Roboto" pitchFamily="34" charset="-122"/>
                <a:cs typeface="Roboto" pitchFamily="34" charset="-120"/>
              </a:rPr>
              <a:t>users</a:t>
            </a:r>
            <a:endParaRPr lang="en-US" sz="1600" dirty="0"/>
          </a:p>
        </p:txBody>
      </p:sp>
      <p:sp>
        <p:nvSpPr>
          <p:cNvPr id="17" name="Text 5"/>
          <p:cNvSpPr/>
          <p:nvPr/>
        </p:nvSpPr>
        <p:spPr>
          <a:xfrm>
            <a:off x="939800" y="3702050"/>
            <a:ext cx="2354580" cy="421626"/>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BDDE2"/>
                </a:solidFill>
                <a:latin typeface="Roboto" pitchFamily="34" charset="0"/>
                <a:ea typeface="Roboto" pitchFamily="34" charset="-122"/>
                <a:cs typeface="Roboto" pitchFamily="34" charset="-120"/>
              </a:rPr>
              <a:t>id, email, password_hash, created_at</a:t>
            </a:r>
            <a:endParaRPr lang="en-US" sz="1200" dirty="0"/>
          </a:p>
        </p:txBody>
      </p:sp>
      <p:sp>
        <p:nvSpPr>
          <p:cNvPr id="18" name="Shape 6"/>
          <p:cNvSpPr/>
          <p:nvPr/>
        </p:nvSpPr>
        <p:spPr>
          <a:xfrm>
            <a:off x="3968750" y="1670050"/>
            <a:ext cx="4051300" cy="749300"/>
          </a:xfrm>
          <a:prstGeom prst="roundRect">
            <a:avLst>
              <a:gd name="adj" fmla="val 9322"/>
            </a:avLst>
          </a:prstGeom>
          <a:solidFill>
            <a:srgbClr val="F5EAEE"/>
          </a:solidFill>
          <a:ln w="12700">
            <a:solidFill>
              <a:srgbClr val="DEC8D0"/>
            </a:solidFill>
            <a:prstDash val="solid"/>
          </a:ln>
        </p:spPr>
      </p:sp>
      <p:sp>
        <p:nvSpPr>
          <p:cNvPr id="19" name="Text 7"/>
          <p:cNvSpPr/>
          <p:nvPr/>
        </p:nvSpPr>
        <p:spPr>
          <a:xfrm>
            <a:off x="4100945" y="1751447"/>
            <a:ext cx="3900516" cy="212436"/>
          </a:xfrm>
          <a:prstGeom prst="rect">
            <a:avLst/>
          </a:prstGeom>
          <a:noFill/>
          <a:ln/>
        </p:spPr>
        <p:txBody>
          <a:bodyPr wrap="square" lIns="0" tIns="0" rIns="0" bIns="0" rtlCol="0" anchor="t">
            <a:normAutofit/>
          </a:bodyPr>
          <a:lstStyle/>
          <a:p>
            <a:pPr algn="l" indent="0" marL="0">
              <a:lnSpc>
                <a:spcPts val="1472"/>
              </a:lnSpc>
              <a:buNone/>
            </a:pPr>
            <a:r>
              <a:rPr lang="en-US" sz="1227" b="1" dirty="0">
                <a:solidFill>
                  <a:srgbClr val="4B2839"/>
                </a:solidFill>
                <a:latin typeface="Roboto" pitchFamily="34" charset="0"/>
                <a:ea typeface="Roboto" pitchFamily="34" charset="-122"/>
                <a:cs typeface="Roboto" pitchFamily="34" charset="-120"/>
              </a:rPr>
              <a:t>linked_accounts</a:t>
            </a:r>
            <a:endParaRPr lang="en-US" sz="1227" dirty="0"/>
          </a:p>
        </p:txBody>
      </p:sp>
      <p:sp>
        <p:nvSpPr>
          <p:cNvPr id="20" name="Text 8"/>
          <p:cNvSpPr/>
          <p:nvPr/>
        </p:nvSpPr>
        <p:spPr>
          <a:xfrm>
            <a:off x="4100945" y="1963886"/>
            <a:ext cx="3900516" cy="399473"/>
          </a:xfrm>
          <a:prstGeom prst="rect">
            <a:avLst/>
          </a:prstGeom>
          <a:noFill/>
          <a:ln/>
        </p:spPr>
        <p:txBody>
          <a:bodyPr wrap="square" lIns="0" tIns="0" rIns="0" bIns="0" rtlCol="0" anchor="t">
            <a:normAutofit/>
          </a:bodyPr>
          <a:lstStyle/>
          <a:p>
            <a:pPr algn="l" indent="0" marL="0">
              <a:lnSpc>
                <a:spcPts val="1487"/>
              </a:lnSpc>
              <a:buNone/>
            </a:pPr>
            <a:r>
              <a:rPr lang="en-US" sz="1144" dirty="0">
                <a:solidFill>
                  <a:srgbClr val="3A2F33"/>
                </a:solidFill>
                <a:latin typeface="Roboto" pitchFamily="34" charset="0"/>
                <a:ea typeface="Roboto" pitchFamily="34" charset="-122"/>
                <a:cs typeface="Roboto" pitchFamily="34" charset="-120"/>
              </a:rPr>
              <a:t>id, user_id (FK), program_id (FK), token_encrypted, status, last_synced</a:t>
            </a:r>
            <a:endParaRPr lang="en-US" sz="1144" dirty="0"/>
          </a:p>
        </p:txBody>
      </p:sp>
      <p:sp>
        <p:nvSpPr>
          <p:cNvPr id="21" name="Shape 9"/>
          <p:cNvSpPr/>
          <p:nvPr/>
        </p:nvSpPr>
        <p:spPr>
          <a:xfrm>
            <a:off x="3968750" y="2520950"/>
            <a:ext cx="4051300" cy="749300"/>
          </a:xfrm>
          <a:prstGeom prst="roundRect">
            <a:avLst>
              <a:gd name="adj" fmla="val 9322"/>
            </a:avLst>
          </a:prstGeom>
          <a:solidFill>
            <a:srgbClr val="F5EAEE"/>
          </a:solidFill>
          <a:ln w="12700">
            <a:solidFill>
              <a:srgbClr val="DEC8D0"/>
            </a:solidFill>
            <a:prstDash val="solid"/>
          </a:ln>
        </p:spPr>
      </p:sp>
      <p:sp>
        <p:nvSpPr>
          <p:cNvPr id="22" name="Text 10"/>
          <p:cNvSpPr/>
          <p:nvPr/>
        </p:nvSpPr>
        <p:spPr>
          <a:xfrm>
            <a:off x="4100945" y="2602347"/>
            <a:ext cx="3900516" cy="212436"/>
          </a:xfrm>
          <a:prstGeom prst="rect">
            <a:avLst/>
          </a:prstGeom>
          <a:noFill/>
          <a:ln/>
        </p:spPr>
        <p:txBody>
          <a:bodyPr wrap="square" lIns="0" tIns="0" rIns="0" bIns="0" rtlCol="0" anchor="t">
            <a:normAutofit/>
          </a:bodyPr>
          <a:lstStyle/>
          <a:p>
            <a:pPr algn="l" indent="0" marL="0">
              <a:lnSpc>
                <a:spcPts val="1472"/>
              </a:lnSpc>
              <a:buNone/>
            </a:pPr>
            <a:r>
              <a:rPr lang="en-US" sz="1227" b="1" dirty="0">
                <a:solidFill>
                  <a:srgbClr val="4B2839"/>
                </a:solidFill>
                <a:latin typeface="Roboto" pitchFamily="34" charset="0"/>
                <a:ea typeface="Roboto" pitchFamily="34" charset="-122"/>
                <a:cs typeface="Roboto" pitchFamily="34" charset="-120"/>
              </a:rPr>
              <a:t>point_balances</a:t>
            </a:r>
            <a:endParaRPr lang="en-US" sz="1227" dirty="0"/>
          </a:p>
        </p:txBody>
      </p:sp>
      <p:sp>
        <p:nvSpPr>
          <p:cNvPr id="23" name="Text 11"/>
          <p:cNvSpPr/>
          <p:nvPr/>
        </p:nvSpPr>
        <p:spPr>
          <a:xfrm>
            <a:off x="4100945" y="2814786"/>
            <a:ext cx="3900516" cy="399473"/>
          </a:xfrm>
          <a:prstGeom prst="rect">
            <a:avLst/>
          </a:prstGeom>
          <a:noFill/>
          <a:ln/>
        </p:spPr>
        <p:txBody>
          <a:bodyPr wrap="square" lIns="0" tIns="0" rIns="0" bIns="0" rtlCol="0" anchor="t">
            <a:normAutofit/>
          </a:bodyPr>
          <a:lstStyle/>
          <a:p>
            <a:pPr algn="l" indent="0" marL="0">
              <a:lnSpc>
                <a:spcPts val="1487"/>
              </a:lnSpc>
              <a:buNone/>
            </a:pPr>
            <a:r>
              <a:rPr lang="en-US" sz="1144" dirty="0">
                <a:solidFill>
                  <a:srgbClr val="3A2F33"/>
                </a:solidFill>
                <a:latin typeface="Roboto" pitchFamily="34" charset="0"/>
                <a:ea typeface="Roboto" pitchFamily="34" charset="-122"/>
                <a:cs typeface="Roboto" pitchFamily="34" charset="-120"/>
              </a:rPr>
              <a:t>id, user_id (FK), program_id (FK), points, expiry_date, updated_at</a:t>
            </a:r>
            <a:endParaRPr lang="en-US" sz="1144" dirty="0"/>
          </a:p>
        </p:txBody>
      </p:sp>
      <p:sp>
        <p:nvSpPr>
          <p:cNvPr id="24" name="Shape 12"/>
          <p:cNvSpPr/>
          <p:nvPr/>
        </p:nvSpPr>
        <p:spPr>
          <a:xfrm>
            <a:off x="3968750" y="3371850"/>
            <a:ext cx="4051300" cy="749300"/>
          </a:xfrm>
          <a:prstGeom prst="roundRect">
            <a:avLst>
              <a:gd name="adj" fmla="val 9322"/>
            </a:avLst>
          </a:prstGeom>
          <a:solidFill>
            <a:srgbClr val="E6F1EF"/>
          </a:solidFill>
          <a:ln w="12700">
            <a:solidFill>
              <a:srgbClr val="2F6F6A"/>
            </a:solidFill>
            <a:prstDash val="solid"/>
          </a:ln>
        </p:spPr>
      </p:sp>
      <p:sp>
        <p:nvSpPr>
          <p:cNvPr id="25" name="Text 13"/>
          <p:cNvSpPr/>
          <p:nvPr/>
        </p:nvSpPr>
        <p:spPr>
          <a:xfrm>
            <a:off x="4100945" y="3453247"/>
            <a:ext cx="3900516" cy="212436"/>
          </a:xfrm>
          <a:prstGeom prst="rect">
            <a:avLst/>
          </a:prstGeom>
          <a:noFill/>
          <a:ln/>
        </p:spPr>
        <p:txBody>
          <a:bodyPr wrap="square" lIns="0" tIns="0" rIns="0" bIns="0" rtlCol="0" anchor="t">
            <a:normAutofit/>
          </a:bodyPr>
          <a:lstStyle/>
          <a:p>
            <a:pPr algn="l" indent="0" marL="0">
              <a:lnSpc>
                <a:spcPts val="1472"/>
              </a:lnSpc>
              <a:buNone/>
            </a:pPr>
            <a:r>
              <a:rPr lang="en-US" sz="1227" b="1" dirty="0">
                <a:solidFill>
                  <a:srgbClr val="1F4F4B"/>
                </a:solidFill>
                <a:latin typeface="Roboto" pitchFamily="34" charset="0"/>
                <a:ea typeface="Roboto" pitchFamily="34" charset="-122"/>
                <a:cs typeface="Roboto" pitchFamily="34" charset="-120"/>
              </a:rPr>
              <a:t>transactions (ledger)</a:t>
            </a:r>
            <a:endParaRPr lang="en-US" sz="1227" dirty="0"/>
          </a:p>
        </p:txBody>
      </p:sp>
      <p:sp>
        <p:nvSpPr>
          <p:cNvPr id="26" name="Text 14"/>
          <p:cNvSpPr/>
          <p:nvPr/>
        </p:nvSpPr>
        <p:spPr>
          <a:xfrm>
            <a:off x="4100945" y="3665686"/>
            <a:ext cx="3900516" cy="399473"/>
          </a:xfrm>
          <a:prstGeom prst="rect">
            <a:avLst/>
          </a:prstGeom>
          <a:noFill/>
          <a:ln/>
        </p:spPr>
        <p:txBody>
          <a:bodyPr wrap="square" lIns="0" tIns="0" rIns="0" bIns="0" rtlCol="0" anchor="t">
            <a:normAutofit/>
          </a:bodyPr>
          <a:lstStyle/>
          <a:p>
            <a:pPr algn="l" indent="0" marL="0">
              <a:lnSpc>
                <a:spcPts val="1487"/>
              </a:lnSpc>
              <a:buNone/>
            </a:pPr>
            <a:r>
              <a:rPr lang="en-US" sz="1144" dirty="0">
                <a:solidFill>
                  <a:srgbClr val="3A2F33"/>
                </a:solidFill>
                <a:latin typeface="Roboto" pitchFamily="34" charset="0"/>
                <a:ea typeface="Roboto" pitchFamily="34" charset="-122"/>
                <a:cs typeface="Roboto" pitchFamily="34" charset="-120"/>
              </a:rPr>
              <a:t>id, user_id (FK), program_id (FK), type, points, reference, created_at</a:t>
            </a:r>
            <a:endParaRPr lang="en-US" sz="1144" dirty="0"/>
          </a:p>
        </p:txBody>
      </p:sp>
      <p:sp>
        <p:nvSpPr>
          <p:cNvPr id="27" name="Shape 15"/>
          <p:cNvSpPr/>
          <p:nvPr/>
        </p:nvSpPr>
        <p:spPr>
          <a:xfrm>
            <a:off x="3968750" y="4222750"/>
            <a:ext cx="4051300" cy="749300"/>
          </a:xfrm>
          <a:prstGeom prst="roundRect">
            <a:avLst>
              <a:gd name="adj" fmla="val 9322"/>
            </a:avLst>
          </a:prstGeom>
          <a:solidFill>
            <a:srgbClr val="F5EAEE"/>
          </a:solidFill>
          <a:ln w="12700">
            <a:solidFill>
              <a:srgbClr val="DEC8D0"/>
            </a:solidFill>
            <a:prstDash val="solid"/>
          </a:ln>
        </p:spPr>
      </p:sp>
      <p:sp>
        <p:nvSpPr>
          <p:cNvPr id="28" name="Text 16"/>
          <p:cNvSpPr/>
          <p:nvPr/>
        </p:nvSpPr>
        <p:spPr>
          <a:xfrm>
            <a:off x="4100945" y="4386591"/>
            <a:ext cx="3900516" cy="223513"/>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4B2839"/>
                </a:solidFill>
                <a:latin typeface="Roboto" pitchFamily="34" charset="0"/>
                <a:ea typeface="Roboto" pitchFamily="34" charset="-122"/>
                <a:cs typeface="Roboto" pitchFamily="34" charset="-120"/>
              </a:rPr>
              <a:t>redemptions</a:t>
            </a:r>
            <a:endParaRPr lang="en-US" sz="1300" dirty="0"/>
          </a:p>
        </p:txBody>
      </p:sp>
      <p:sp>
        <p:nvSpPr>
          <p:cNvPr id="29" name="Text 17"/>
          <p:cNvSpPr/>
          <p:nvPr/>
        </p:nvSpPr>
        <p:spPr>
          <a:xfrm>
            <a:off x="4100945" y="4610100"/>
            <a:ext cx="3900516" cy="22351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2F33"/>
                </a:solidFill>
                <a:latin typeface="Roboto" pitchFamily="34" charset="0"/>
                <a:ea typeface="Roboto" pitchFamily="34" charset="-122"/>
                <a:cs typeface="Roboto" pitchFamily="34" charset="-120"/>
              </a:rPr>
              <a:t>id, user_id (FK), reward_id (FK), points_used, created_at</a:t>
            </a:r>
            <a:endParaRPr lang="en-US" sz="1200" dirty="0"/>
          </a:p>
        </p:txBody>
      </p:sp>
      <p:sp>
        <p:nvSpPr>
          <p:cNvPr id="30" name="Shape 18"/>
          <p:cNvSpPr/>
          <p:nvPr/>
        </p:nvSpPr>
        <p:spPr>
          <a:xfrm>
            <a:off x="3968750" y="5073650"/>
            <a:ext cx="4051300" cy="749300"/>
          </a:xfrm>
          <a:prstGeom prst="roundRect">
            <a:avLst>
              <a:gd name="adj" fmla="val 9322"/>
            </a:avLst>
          </a:prstGeom>
          <a:solidFill>
            <a:srgbClr val="F5EAEE"/>
          </a:solidFill>
          <a:ln w="12700">
            <a:solidFill>
              <a:srgbClr val="DEC8D0"/>
            </a:solidFill>
            <a:prstDash val="solid"/>
          </a:ln>
        </p:spPr>
      </p:sp>
      <p:sp>
        <p:nvSpPr>
          <p:cNvPr id="31" name="Text 19"/>
          <p:cNvSpPr/>
          <p:nvPr/>
        </p:nvSpPr>
        <p:spPr>
          <a:xfrm>
            <a:off x="4100945" y="5237491"/>
            <a:ext cx="3900516" cy="223513"/>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4B2839"/>
                </a:solidFill>
                <a:latin typeface="Roboto" pitchFamily="34" charset="0"/>
                <a:ea typeface="Roboto" pitchFamily="34" charset="-122"/>
                <a:cs typeface="Roboto" pitchFamily="34" charset="-120"/>
              </a:rPr>
              <a:t>notifications</a:t>
            </a:r>
            <a:endParaRPr lang="en-US" sz="1300" dirty="0"/>
          </a:p>
        </p:txBody>
      </p:sp>
      <p:sp>
        <p:nvSpPr>
          <p:cNvPr id="32" name="Text 20"/>
          <p:cNvSpPr/>
          <p:nvPr/>
        </p:nvSpPr>
        <p:spPr>
          <a:xfrm>
            <a:off x="4100945" y="5461000"/>
            <a:ext cx="3900516" cy="22351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2F33"/>
                </a:solidFill>
                <a:latin typeface="Roboto" pitchFamily="34" charset="0"/>
                <a:ea typeface="Roboto" pitchFamily="34" charset="-122"/>
                <a:cs typeface="Roboto" pitchFamily="34" charset="-120"/>
              </a:rPr>
              <a:t>id, user_id (FK), message, type, sent_at</a:t>
            </a:r>
            <a:endParaRPr lang="en-US" sz="1200" dirty="0"/>
          </a:p>
        </p:txBody>
      </p:sp>
      <p:sp>
        <p:nvSpPr>
          <p:cNvPr id="33" name="Shape 21"/>
          <p:cNvSpPr/>
          <p:nvPr/>
        </p:nvSpPr>
        <p:spPr>
          <a:xfrm>
            <a:off x="8636000" y="1663700"/>
            <a:ext cx="2743200" cy="2305050"/>
          </a:xfrm>
          <a:prstGeom prst="roundRect">
            <a:avLst>
              <a:gd name="adj" fmla="val 3306"/>
            </a:avLst>
          </a:prstGeom>
          <a:solidFill>
            <a:srgbClr val="4B2839"/>
          </a:solidFill>
          <a:ln/>
        </p:spPr>
      </p:sp>
      <p:sp>
        <p:nvSpPr>
          <p:cNvPr id="34" name="Text 22"/>
          <p:cNvSpPr/>
          <p:nvPr/>
        </p:nvSpPr>
        <p:spPr>
          <a:xfrm>
            <a:off x="8763000" y="2563490"/>
            <a:ext cx="2563876" cy="26922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F8F9"/>
                </a:solidFill>
                <a:latin typeface="Roboto" pitchFamily="34" charset="0"/>
                <a:ea typeface="Roboto" pitchFamily="34" charset="-122"/>
                <a:cs typeface="Roboto" pitchFamily="34" charset="-120"/>
              </a:rPr>
              <a:t>programs</a:t>
            </a:r>
            <a:endParaRPr lang="en-US" sz="1600" dirty="0"/>
          </a:p>
        </p:txBody>
      </p:sp>
      <p:sp>
        <p:nvSpPr>
          <p:cNvPr id="35" name="Text 23"/>
          <p:cNvSpPr/>
          <p:nvPr/>
        </p:nvSpPr>
        <p:spPr>
          <a:xfrm>
            <a:off x="8763000" y="2870814"/>
            <a:ext cx="2563876" cy="22351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BDDE2"/>
                </a:solidFill>
                <a:latin typeface="Roboto" pitchFamily="34" charset="0"/>
                <a:ea typeface="Roboto" pitchFamily="34" charset="-122"/>
                <a:cs typeface="Roboto" pitchFamily="34" charset="-120"/>
              </a:rPr>
              <a:t>id, name, category, rupee_per_point</a:t>
            </a:r>
            <a:endParaRPr lang="en-US" sz="1200" dirty="0"/>
          </a:p>
        </p:txBody>
      </p:sp>
      <p:sp>
        <p:nvSpPr>
          <p:cNvPr id="36" name="Shape 24"/>
          <p:cNvSpPr/>
          <p:nvPr/>
        </p:nvSpPr>
        <p:spPr>
          <a:xfrm>
            <a:off x="8642350" y="4451350"/>
            <a:ext cx="2730500" cy="1066800"/>
          </a:xfrm>
          <a:prstGeom prst="roundRect">
            <a:avLst>
              <a:gd name="adj" fmla="val 6548"/>
            </a:avLst>
          </a:prstGeom>
          <a:solidFill>
            <a:srgbClr val="F5EAEE"/>
          </a:solidFill>
          <a:ln w="12700">
            <a:solidFill>
              <a:srgbClr val="DEC8D0"/>
            </a:solidFill>
            <a:prstDash val="solid"/>
          </a:ln>
        </p:spPr>
      </p:sp>
      <p:sp>
        <p:nvSpPr>
          <p:cNvPr id="37" name="Text 25"/>
          <p:cNvSpPr/>
          <p:nvPr/>
        </p:nvSpPr>
        <p:spPr>
          <a:xfrm>
            <a:off x="8774546" y="4575826"/>
            <a:ext cx="2540092" cy="223513"/>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4B2839"/>
                </a:solidFill>
                <a:latin typeface="Roboto" pitchFamily="34" charset="0"/>
                <a:ea typeface="Roboto" pitchFamily="34" charset="-122"/>
                <a:cs typeface="Roboto" pitchFamily="34" charset="-120"/>
              </a:rPr>
              <a:t>rewards</a:t>
            </a:r>
            <a:endParaRPr lang="en-US" sz="1300" dirty="0"/>
          </a:p>
        </p:txBody>
      </p:sp>
      <p:sp>
        <p:nvSpPr>
          <p:cNvPr id="38" name="Text 26"/>
          <p:cNvSpPr/>
          <p:nvPr/>
        </p:nvSpPr>
        <p:spPr>
          <a:xfrm>
            <a:off x="8774546" y="4799341"/>
            <a:ext cx="2540092" cy="61973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2F33"/>
                </a:solidFill>
                <a:latin typeface="Roboto" pitchFamily="34" charset="0"/>
                <a:ea typeface="Roboto" pitchFamily="34" charset="-122"/>
                <a:cs typeface="Roboto" pitchFamily="34" charset="-120"/>
              </a:rPr>
              <a:t>id, program_id (FK), name, category_weights (JSONB), points_cost, rupee_value</a:t>
            </a:r>
            <a:endParaRPr lang="en-US" sz="1200" dirty="0"/>
          </a:p>
        </p:txBody>
      </p:sp>
      <p:sp>
        <p:nvSpPr>
          <p:cNvPr id="39" name="Text 27"/>
          <p:cNvSpPr/>
          <p:nvPr/>
        </p:nvSpPr>
        <p:spPr>
          <a:xfrm>
            <a:off x="3403600" y="18288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40" name="Text 28"/>
          <p:cNvSpPr/>
          <p:nvPr/>
        </p:nvSpPr>
        <p:spPr>
          <a:xfrm>
            <a:off x="3746500" y="18288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41" name="Text 29"/>
          <p:cNvSpPr/>
          <p:nvPr/>
        </p:nvSpPr>
        <p:spPr>
          <a:xfrm>
            <a:off x="3403600" y="26797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42" name="Text 30"/>
          <p:cNvSpPr/>
          <p:nvPr/>
        </p:nvSpPr>
        <p:spPr>
          <a:xfrm>
            <a:off x="3746500" y="26797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43" name="Text 31"/>
          <p:cNvSpPr/>
          <p:nvPr/>
        </p:nvSpPr>
        <p:spPr>
          <a:xfrm>
            <a:off x="3403600" y="35306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44" name="Text 32"/>
          <p:cNvSpPr/>
          <p:nvPr/>
        </p:nvSpPr>
        <p:spPr>
          <a:xfrm>
            <a:off x="3746500" y="35306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45" name="Text 33"/>
          <p:cNvSpPr/>
          <p:nvPr/>
        </p:nvSpPr>
        <p:spPr>
          <a:xfrm>
            <a:off x="3403600" y="43815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46" name="Text 34"/>
          <p:cNvSpPr/>
          <p:nvPr/>
        </p:nvSpPr>
        <p:spPr>
          <a:xfrm>
            <a:off x="3746500" y="43815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47" name="Text 35"/>
          <p:cNvSpPr/>
          <p:nvPr/>
        </p:nvSpPr>
        <p:spPr>
          <a:xfrm>
            <a:off x="3403600" y="52324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48" name="Text 36"/>
          <p:cNvSpPr/>
          <p:nvPr/>
        </p:nvSpPr>
        <p:spPr>
          <a:xfrm>
            <a:off x="3746500" y="52324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49" name="Text 37"/>
          <p:cNvSpPr/>
          <p:nvPr/>
        </p:nvSpPr>
        <p:spPr>
          <a:xfrm>
            <a:off x="8064500" y="18288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50" name="Text 38"/>
          <p:cNvSpPr/>
          <p:nvPr/>
        </p:nvSpPr>
        <p:spPr>
          <a:xfrm>
            <a:off x="8420100" y="18288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51" name="Text 39"/>
          <p:cNvSpPr/>
          <p:nvPr/>
        </p:nvSpPr>
        <p:spPr>
          <a:xfrm>
            <a:off x="8064500" y="26797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52" name="Text 40"/>
          <p:cNvSpPr/>
          <p:nvPr/>
        </p:nvSpPr>
        <p:spPr>
          <a:xfrm>
            <a:off x="8420100" y="26797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53" name="Text 41"/>
          <p:cNvSpPr/>
          <p:nvPr/>
        </p:nvSpPr>
        <p:spPr>
          <a:xfrm>
            <a:off x="8064500" y="35306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54" name="Text 42"/>
          <p:cNvSpPr/>
          <p:nvPr/>
        </p:nvSpPr>
        <p:spPr>
          <a:xfrm>
            <a:off x="8420100" y="35306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55" name="Text 43"/>
          <p:cNvSpPr/>
          <p:nvPr/>
        </p:nvSpPr>
        <p:spPr>
          <a:xfrm>
            <a:off x="8064500" y="43815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56" name="Text 44"/>
          <p:cNvSpPr/>
          <p:nvPr/>
        </p:nvSpPr>
        <p:spPr>
          <a:xfrm>
            <a:off x="8420100" y="43815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57" name="Text 45"/>
          <p:cNvSpPr/>
          <p:nvPr/>
        </p:nvSpPr>
        <p:spPr>
          <a:xfrm>
            <a:off x="10096500" y="40005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1</a:t>
            </a:r>
            <a:endParaRPr lang="en-US" sz="1200" dirty="0"/>
          </a:p>
        </p:txBody>
      </p:sp>
      <p:sp>
        <p:nvSpPr>
          <p:cNvPr id="58" name="Text 46"/>
          <p:cNvSpPr/>
          <p:nvPr/>
        </p:nvSpPr>
        <p:spPr>
          <a:xfrm>
            <a:off x="10096500" y="4216400"/>
            <a:ext cx="241300" cy="23873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B5068"/>
                </a:solidFill>
                <a:latin typeface="Roboto" pitchFamily="34" charset="0"/>
                <a:ea typeface="Roboto" pitchFamily="34" charset="-122"/>
                <a:cs typeface="Roboto" pitchFamily="34" charset="-120"/>
              </a:rPr>
              <a:t>N</a:t>
            </a:r>
            <a:endParaRPr lang="en-US" sz="1200" dirty="0"/>
          </a:p>
        </p:txBody>
      </p:sp>
      <p:sp>
        <p:nvSpPr>
          <p:cNvPr id="59" name="Text 47"/>
          <p:cNvSpPr/>
          <p:nvPr/>
        </p:nvSpPr>
        <p:spPr>
          <a:xfrm>
            <a:off x="812800" y="6238267"/>
            <a:ext cx="78486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F64"/>
                </a:solidFill>
                <a:latin typeface="Roboto" pitchFamily="34" charset="0"/>
                <a:ea typeface="Roboto" pitchFamily="34" charset="-122"/>
                <a:cs typeface="Roboto" pitchFamily="34" charset="-120"/>
              </a:rPr>
              <a:t>Universal Loyalty Point Aggregation Platform | Project Review</a:t>
            </a:r>
            <a:endParaRPr lang="en-US" sz="1200" dirty="0"/>
          </a:p>
        </p:txBody>
      </p:sp>
      <p:sp>
        <p:nvSpPr>
          <p:cNvPr id="60" name="Text 48"/>
          <p:cNvSpPr/>
          <p:nvPr/>
        </p:nvSpPr>
        <p:spPr>
          <a:xfrm>
            <a:off x="10058400" y="6238267"/>
            <a:ext cx="1320800" cy="23873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F64"/>
                </a:solidFill>
                <a:latin typeface="Roboto" pitchFamily="34" charset="0"/>
                <a:ea typeface="Roboto" pitchFamily="34" charset="-122"/>
                <a:cs typeface="Roboto" pitchFamily="34" charset="-120"/>
              </a:rPr>
              <a:t>15</a:t>
            </a:r>
            <a:endParaRPr lang="en-US" sz="1200" dirty="0"/>
          </a:p>
        </p:txBody>
      </p:sp>
    </p:spTree>
  </p:cSld>
  <p:clrMapOvr>
    <a:masterClrMapping/>
  </p:clrMapOvr>
</p:sld>
</file>

<file path=ppt/theme/theme1.xml><?xml version="1.0" encoding="utf-8"?>
<a:theme xmlns:a="http://schemas.openxmlformats.org/drawingml/2006/main" name="Universal Loyalty Point Aggregation Platform">
  <a:themeElements>
    <a:clrScheme name="Universal Loyalty Point Aggregation Platform">
      <a:dk1>
        <a:srgbClr val="3A2F33"/>
      </a:dk1>
      <a:lt1>
        <a:srgbClr val="FBF8F9"/>
      </a:lt1>
      <a:dk2>
        <a:srgbClr val="6A6165"/>
      </a:dk2>
      <a:lt2>
        <a:srgbClr val="E8E4E5"/>
      </a:lt2>
      <a:accent1>
        <a:srgbClr val="8B5068"/>
      </a:accent1>
      <a:accent2>
        <a:srgbClr val="6B3D52"/>
      </a:accent2>
      <a:accent3>
        <a:srgbClr val="2F6F6A"/>
      </a:accent3>
      <a:accent4>
        <a:srgbClr val="1F4F4B"/>
      </a:accent4>
      <a:accent5>
        <a:srgbClr val="6B5F64"/>
      </a:accent5>
      <a:accent6>
        <a:srgbClr val="EBDDE2"/>
      </a:accent6>
      <a:hlink>
        <a:srgbClr val="0563C1"/>
      </a:hlink>
      <a:folHlink>
        <a:srgbClr val="954F72"/>
      </a:folHlink>
    </a:clrScheme>
    <a:fontScheme name="Universal Loyalty Point Aggregation Platform">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Loyalty Point Aggregation Platform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Roboto
Copyright 2011 The Roboto Project Authors (https://github.com/googlefonts/roboto-classic)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2026-10-29T13:13:20Z</dcterms:created>
  <dcterms:modified xsi:type="dcterms:W3CDTF">2026-10-29T13:13:20Z</dcterms:modified>
</cp:coreProperties>
</file>